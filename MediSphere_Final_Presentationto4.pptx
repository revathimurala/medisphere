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77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4362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Revathi Murala, and this is MediSphere, a digital health twin platform I built as an individual intern project. The objective is to take wearable and lab data, standardise it as FHIR, build a digital twin of each patient, add privacy-preserving risk prediction, and detect and escalate cardiac events in real time. I'll walk through Milestones 1, 2 and 3, then show the running application and the source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brief describes the problem this way: patient data is spread across FHIR APIs, wearables and EHR systems, and hospitals cannot simply pool it to train shared AI models. MediSphere creates a digital health twin for each patient and uses continuous-learning models to predict future risk: cardiovascular risk, diabetes complications and hospital readmission. Federated learning keeps the training privacy-preserving across hospitals, and the goal is preventive care through early intervention and personalized care plans, while staying HIPAA compliant.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 end is React with Tailwind CSS. The back end is Node.js with Express, implementing a local HL7 FHIR R4 API and SMART-on-FHIR discovery. MongoDB is the database that stores the digital twins, Apache Kafka handles event streaming, and the AI side uses federated learning. I used Node and React instead of the Java and Angular suggested in the project brief.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lane by lane. Milestone 1: wearable and lab data goes through the FHIR R4 API, Kafka and MongoDB into the Patient 360 dashboard. Milestone 2 covers TensorFlow Federated setup, the cardiovascular and diabetes complication models, SHAP explainability and model versioning. Milestone 3 covers wearable device integration, Kafka streams anomaly detection, the real-time alert engine, the clinical rule engine and mobile notifications. Milestone 4 covers the AI careplan generator, the clinical guideline engine, adherence tracking, outcome measurement and provider collaboration.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Milestone 1 I built the data foundation. When I click Run data pipeline, the backend reads raw wearable and lab rows from the Excel demo file, calls my own local FHIR R4 API to turn each row into an Observation, publishes the result to Kafka, and a consumer writes it to MongoDB and rebuilds the patient's digital twin. The React Patient 360 screen reads the twin. I also implemented FHIR validation, consent verification, a twin completeness check, vital-range validation, role-based access, and an audit-logging foundation. There is no hospital EHR in this build; the Excel file is only raw input, not a FHIR store.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2 has five modules. TensorFlow Federated setup: I implemented Federated Averaging across three hospital nodes with a differential-privacy budget of 1.25; each Train Federated Round click aggregates the node weights and advances the round. CVD risk prediction model: a ten-year cardiovascular risk score and category for each patient, for example 24.3 percent for John Doe. Diabetes complication model: extends the risk prediction to diabetes complications. SHAP explainability: shows how much each biomarker, such as HbA1c and blood pressure, contributes to the risk. Model versioning: a model registry tracks the model version and federated round. To be transparent, the federated training is a simulation on three virtual hospitals, and the cohorts, accuracy progression and per-patient scores are seeded demo values. I use the real Federated Averaging logic and screens, not real hospital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3 has five modules that form one real-time chain. Wearable device integration: each patient is bound to a simulated wearable that sends a packet every 2.5 seconds. Kafka streams anomaly detection: packets go through a signal-quality filter that drops motion noise, then a 20-sample sliding window computes a Z-score; a value beyond 2.5 flags possible atrial fibrillation. Real-time alert engine: creates the alert with an order set and a 3.2-minute SLA deadline. Clinical rule engine: checks the vitals against clinical protocols. Mobile notifications: the alert reaches the phone view with an audio chime and vibration, and when the clinician claims it, the SLA clock stops and the time-to-notify is recorded. In the demo I trigger Sarah Miller's spike from about 74 to 145 bpm, which gives a Z-score around plus 25. The 89 percent confidence is a fixed value assigned by the rule, and the dashboard response-time figures use sample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4 turns a risk prediction into action. The AI careplan generator builds a personalized plan from each patient's risk prediction, for example a goal to bring HbA1c under 7 percent in three months with specific medication and monitoring steps. The clinical guideline engine checks that plan against clinical guidelines. Adherence tracking follows how closely the patient sticks to it, and outcome measurement compares predicted risk before and after. Provider collaboration lets the care team review and approve the plan before it goes to the patient. To be transparent, the generator and tracking screens are real; the 23 percent reduction in hospitalizations is a demo figure, not a measured clinical outcome.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challenges shaped the design. One: converting raw rows into schema-valid FHIR Observations, solved with a mapping step, FHIR validation and range checks. Two: federated learning needs several hospitals' data, so I simulated three weighted nodes while keeping the real aggregation logic. Three: a bare risk score is hard to trust, so I added SHAP contributions. Four: alerts only help if someone acknowledges them, so the alert engine runs an SLA clock and the mobile claim flow records time-to-notify. Replace any of these with what actually happened to you if it differs.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complete Milestone 4 with AI-generated care plans and drug-interaction checks; replace the federated simulation with real training using TensorFlow Federated or Flower on public datasets; replace threshold rules with a learned ECG-based model and measure precision and recall properly; and integrate with a sandbox EHR using SMART-on-FHIR, with proper authentication and encryption.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all three milestones are implemented and connected end to end, from data collection through FHIR, Kafka and MongoDB, to risk prediction, real-time anomaly detection and mobile alerts. I want to be clear about scope: the federated learning, patient risk scores, AFib confidence and dashboard SLA figures use simulated or seeded values, while the pipelines, rules and screens are real code. What I learned: FHIR data modelling, event-driven design with Kafka, how federated averaging works, and how to keep a simulation honest. Now I'll switch to the live demo.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I'll now switch to the live demo to show the dashboard, the front end, the back end, MongoDB and the source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5"/>
        </a:solidFill>
        <a:effectLst/>
      </p:bgPr>
    </p:bg>
    <p:spTree>
      <p:nvGrpSpPr>
        <p:cNvPr id="1" name=""/>
        <p:cNvGrpSpPr/>
        <p:nvPr/>
      </p:nvGrpSpPr>
      <p:grpSpPr>
        <a:xfrm>
          <a:off x="0" y="0"/>
          <a:ext cx="0" cy="0"/>
          <a:chOff x="0" y="0"/>
          <a:chExt cx="0" cy="0"/>
        </a:xfrm>
      </p:grpSpPr>
      <p:sp>
        <p:nvSpPr>
          <p:cNvPr id="2" name="Text 0"/>
          <p:cNvSpPr txBox="1"/>
          <p:nvPr/>
        </p:nvSpPr>
        <p:spPr>
          <a:xfrm>
            <a:off x="457200" y="502920"/>
            <a:ext cx="8229600" cy="274320"/>
          </a:xfrm>
          <a:prstGeom prst="rect">
            <a:avLst/>
          </a:prstGeom>
          <a:noFill/>
          <a:ln/>
        </p:spPr>
        <p:txBody>
          <a:bodyPr wrap="square" lIns="0" tIns="0" rIns="0" bIns="0" rtlCol="0" anchor="ctr"/>
          <a:lstStyle/>
          <a:p>
            <a:pPr marL="0" indent="0">
              <a:buNone/>
            </a:pPr>
            <a:r>
              <a:rPr lang="en-US" sz="1100" b="1" kern="0" spc="300" dirty="0">
                <a:solidFill>
                  <a:srgbClr val="7FD1D8"/>
                </a:solidFill>
                <a:latin typeface="Calibri" pitchFamily="34" charset="0"/>
                <a:ea typeface="Calibri" pitchFamily="34" charset="-122"/>
                <a:cs typeface="Calibri" pitchFamily="34" charset="-120"/>
              </a:rPr>
              <a:t>FINAL PROJECT EVALUATION  ·  MILESTONES 1–4</a:t>
            </a:r>
            <a:endParaRPr lang="en-US" sz="1100" dirty="0"/>
          </a:p>
        </p:txBody>
      </p:sp>
      <p:sp>
        <p:nvSpPr>
          <p:cNvPr id="3" name="Text 1"/>
          <p:cNvSpPr txBox="1"/>
          <p:nvPr/>
        </p:nvSpPr>
        <p:spPr>
          <a:xfrm>
            <a:off x="457200" y="822960"/>
            <a:ext cx="8229600" cy="8686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MediSphere</a:t>
            </a:r>
            <a:endParaRPr lang="en-US" sz="5400" dirty="0"/>
          </a:p>
        </p:txBody>
      </p:sp>
      <p:sp>
        <p:nvSpPr>
          <p:cNvPr id="4" name="Text 2"/>
          <p:cNvSpPr txBox="1"/>
          <p:nvPr/>
        </p:nvSpPr>
        <p:spPr>
          <a:xfrm>
            <a:off x="457200" y="1691640"/>
            <a:ext cx="8229600" cy="411480"/>
          </a:xfrm>
          <a:prstGeom prst="rect">
            <a:avLst/>
          </a:prstGeom>
          <a:noFill/>
          <a:ln/>
        </p:spPr>
        <p:txBody>
          <a:bodyPr wrap="square" lIns="0" tIns="0" rIns="0" bIns="0" rtlCol="0" anchor="ctr"/>
          <a:lstStyle/>
          <a:p>
            <a:pPr marL="0" indent="0">
              <a:buNone/>
            </a:pPr>
            <a:r>
              <a:rPr lang="en-US" sz="2200" dirty="0">
                <a:solidFill>
                  <a:srgbClr val="9FDCE1"/>
                </a:solidFill>
                <a:latin typeface="Cambria" pitchFamily="34" charset="0"/>
                <a:ea typeface="Cambria" pitchFamily="34" charset="-122"/>
                <a:cs typeface="Cambria" pitchFamily="34" charset="-120"/>
              </a:rPr>
              <a:t>Cognitive Digital Health Twin Platform</a:t>
            </a:r>
            <a:endParaRPr lang="en-US" sz="2200" dirty="0"/>
          </a:p>
        </p:txBody>
      </p:sp>
      <p:sp>
        <p:nvSpPr>
          <p:cNvPr id="5" name="Text 3"/>
          <p:cNvSpPr txBox="1"/>
          <p:nvPr/>
        </p:nvSpPr>
        <p:spPr>
          <a:xfrm>
            <a:off x="457200" y="2240280"/>
            <a:ext cx="6035040" cy="7772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Objective: </a:t>
            </a:r>
            <a:r>
              <a:rPr lang="en-US" sz="1400" dirty="0">
                <a:solidFill>
                  <a:srgbClr val="C9DDE1"/>
                </a:solidFill>
                <a:latin typeface="Calibri" pitchFamily="34" charset="0"/>
                <a:ea typeface="Calibri" pitchFamily="34" charset="-122"/>
                <a:cs typeface="Calibri" pitchFamily="34" charset="-120"/>
              </a:rPr>
              <a:t>turn wearable and lab data into a FHIR-standard digital twin, add privacy-preserving risk prediction, and detect and escalate cardiac events in real time.</a:t>
            </a:r>
            <a:endParaRPr lang="en-US" sz="1400" dirty="0"/>
          </a:p>
        </p:txBody>
      </p:sp>
      <p:sp>
        <p:nvSpPr>
          <p:cNvPr id="6" name="Text 4"/>
          <p:cNvSpPr txBox="1"/>
          <p:nvPr/>
        </p:nvSpPr>
        <p:spPr>
          <a:xfrm>
            <a:off x="457200" y="3108960"/>
            <a:ext cx="60350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Presented by Revathi Murala  ·  Individual intern project</a:t>
            </a:r>
            <a:endParaRPr lang="en-US" sz="1300" dirty="0"/>
          </a:p>
        </p:txBody>
      </p:sp>
      <p:sp>
        <p:nvSpPr>
          <p:cNvPr id="7" name="Text 5"/>
          <p:cNvSpPr txBox="1"/>
          <p:nvPr/>
        </p:nvSpPr>
        <p:spPr>
          <a:xfrm>
            <a:off x="457200" y="3383280"/>
            <a:ext cx="6035040" cy="274320"/>
          </a:xfrm>
          <a:prstGeom prst="rect">
            <a:avLst/>
          </a:prstGeom>
          <a:noFill/>
          <a:ln/>
        </p:spPr>
        <p:txBody>
          <a:bodyPr wrap="square" lIns="0" tIns="0" rIns="0" bIns="0" rtlCol="0" anchor="ctr"/>
          <a:lstStyle/>
          <a:p>
            <a:pPr marL="0" indent="0">
              <a:buNone/>
            </a:pPr>
            <a:r>
              <a:rPr lang="en-US" sz="1200" dirty="0">
                <a:solidFill>
                  <a:srgbClr val="9FDCE1"/>
                </a:solidFill>
                <a:latin typeface="Calibri" pitchFamily="34" charset="0"/>
                <a:ea typeface="Calibri" pitchFamily="34" charset="-122"/>
                <a:cs typeface="Calibri" pitchFamily="34" charset="-120"/>
              </a:rPr>
              <a:t>github.com/revathimurala/medisphere</a:t>
            </a:r>
            <a:endParaRPr lang="en-US" sz="1200" dirty="0"/>
          </a:p>
        </p:txBody>
      </p:sp>
      <p:sp>
        <p:nvSpPr>
          <p:cNvPr id="8" name="Shape 6"/>
          <p:cNvSpPr/>
          <p:nvPr/>
        </p:nvSpPr>
        <p:spPr>
          <a:xfrm>
            <a:off x="365760" y="4434840"/>
            <a:ext cx="329184" cy="0"/>
          </a:xfrm>
          <a:prstGeom prst="line">
            <a:avLst/>
          </a:prstGeom>
          <a:noFill/>
          <a:ln w="28575">
            <a:solidFill>
              <a:srgbClr val="E4572E"/>
            </a:solidFill>
            <a:prstDash val="solid"/>
          </a:ln>
        </p:spPr>
      </p:sp>
      <p:sp>
        <p:nvSpPr>
          <p:cNvPr id="9" name="Shape 7"/>
          <p:cNvSpPr/>
          <p:nvPr/>
        </p:nvSpPr>
        <p:spPr>
          <a:xfrm flipV="1">
            <a:off x="694944" y="4361688"/>
            <a:ext cx="109728" cy="73152"/>
          </a:xfrm>
          <a:prstGeom prst="line">
            <a:avLst/>
          </a:prstGeom>
          <a:noFill/>
          <a:ln w="28575">
            <a:solidFill>
              <a:srgbClr val="E4572E"/>
            </a:solidFill>
            <a:prstDash val="solid"/>
          </a:ln>
        </p:spPr>
      </p:sp>
      <p:sp>
        <p:nvSpPr>
          <p:cNvPr id="10" name="Shape 8"/>
          <p:cNvSpPr/>
          <p:nvPr/>
        </p:nvSpPr>
        <p:spPr>
          <a:xfrm>
            <a:off x="804672" y="4361688"/>
            <a:ext cx="109728" cy="73152"/>
          </a:xfrm>
          <a:prstGeom prst="line">
            <a:avLst/>
          </a:prstGeom>
          <a:noFill/>
          <a:ln w="28575">
            <a:solidFill>
              <a:srgbClr val="E4572E"/>
            </a:solidFill>
            <a:prstDash val="solid"/>
          </a:ln>
        </p:spPr>
      </p:sp>
      <p:sp>
        <p:nvSpPr>
          <p:cNvPr id="11" name="Shape 9"/>
          <p:cNvSpPr/>
          <p:nvPr/>
        </p:nvSpPr>
        <p:spPr>
          <a:xfrm>
            <a:off x="914400" y="4434840"/>
            <a:ext cx="153619" cy="0"/>
          </a:xfrm>
          <a:prstGeom prst="line">
            <a:avLst/>
          </a:prstGeom>
          <a:noFill/>
          <a:ln w="28575">
            <a:solidFill>
              <a:srgbClr val="E4572E"/>
            </a:solidFill>
            <a:prstDash val="solid"/>
          </a:ln>
        </p:spPr>
      </p:sp>
      <p:sp>
        <p:nvSpPr>
          <p:cNvPr id="12" name="Shape 10"/>
          <p:cNvSpPr/>
          <p:nvPr/>
        </p:nvSpPr>
        <p:spPr>
          <a:xfrm>
            <a:off x="1068019" y="4434840"/>
            <a:ext cx="65837" cy="54864"/>
          </a:xfrm>
          <a:prstGeom prst="line">
            <a:avLst/>
          </a:prstGeom>
          <a:noFill/>
          <a:ln w="28575">
            <a:solidFill>
              <a:srgbClr val="E4572E"/>
            </a:solidFill>
            <a:prstDash val="solid"/>
          </a:ln>
        </p:spPr>
      </p:sp>
      <p:sp>
        <p:nvSpPr>
          <p:cNvPr id="13" name="Shape 11"/>
          <p:cNvSpPr/>
          <p:nvPr/>
        </p:nvSpPr>
        <p:spPr>
          <a:xfrm flipV="1">
            <a:off x="1133856" y="3931920"/>
            <a:ext cx="109728" cy="557784"/>
          </a:xfrm>
          <a:prstGeom prst="line">
            <a:avLst/>
          </a:prstGeom>
          <a:noFill/>
          <a:ln w="28575">
            <a:solidFill>
              <a:srgbClr val="E4572E"/>
            </a:solidFill>
            <a:prstDash val="solid"/>
          </a:ln>
        </p:spPr>
      </p:sp>
      <p:sp>
        <p:nvSpPr>
          <p:cNvPr id="14" name="Shape 12"/>
          <p:cNvSpPr/>
          <p:nvPr/>
        </p:nvSpPr>
        <p:spPr>
          <a:xfrm>
            <a:off x="1243584" y="3931920"/>
            <a:ext cx="109728" cy="758952"/>
          </a:xfrm>
          <a:prstGeom prst="line">
            <a:avLst/>
          </a:prstGeom>
          <a:noFill/>
          <a:ln w="28575">
            <a:solidFill>
              <a:srgbClr val="E4572E"/>
            </a:solidFill>
            <a:prstDash val="solid"/>
          </a:ln>
        </p:spPr>
      </p:sp>
      <p:sp>
        <p:nvSpPr>
          <p:cNvPr id="15" name="Shape 13"/>
          <p:cNvSpPr/>
          <p:nvPr/>
        </p:nvSpPr>
        <p:spPr>
          <a:xfrm flipV="1">
            <a:off x="1353312" y="4434840"/>
            <a:ext cx="109728" cy="256032"/>
          </a:xfrm>
          <a:prstGeom prst="line">
            <a:avLst/>
          </a:prstGeom>
          <a:noFill/>
          <a:ln w="28575">
            <a:solidFill>
              <a:srgbClr val="E4572E"/>
            </a:solidFill>
            <a:prstDash val="solid"/>
          </a:ln>
        </p:spPr>
      </p:sp>
      <p:sp>
        <p:nvSpPr>
          <p:cNvPr id="16" name="Shape 14"/>
          <p:cNvSpPr/>
          <p:nvPr/>
        </p:nvSpPr>
        <p:spPr>
          <a:xfrm>
            <a:off x="1463040" y="4434840"/>
            <a:ext cx="219456" cy="0"/>
          </a:xfrm>
          <a:prstGeom prst="line">
            <a:avLst/>
          </a:prstGeom>
          <a:noFill/>
          <a:ln w="28575">
            <a:solidFill>
              <a:srgbClr val="E4572E"/>
            </a:solidFill>
            <a:prstDash val="solid"/>
          </a:ln>
        </p:spPr>
      </p:sp>
      <p:sp>
        <p:nvSpPr>
          <p:cNvPr id="17" name="Shape 15"/>
          <p:cNvSpPr/>
          <p:nvPr/>
        </p:nvSpPr>
        <p:spPr>
          <a:xfrm flipV="1">
            <a:off x="1682496" y="4315968"/>
            <a:ext cx="175565" cy="118872"/>
          </a:xfrm>
          <a:prstGeom prst="line">
            <a:avLst/>
          </a:prstGeom>
          <a:noFill/>
          <a:ln w="28575">
            <a:solidFill>
              <a:srgbClr val="E4572E"/>
            </a:solidFill>
            <a:prstDash val="solid"/>
          </a:ln>
        </p:spPr>
      </p:sp>
      <p:sp>
        <p:nvSpPr>
          <p:cNvPr id="18" name="Shape 16"/>
          <p:cNvSpPr/>
          <p:nvPr/>
        </p:nvSpPr>
        <p:spPr>
          <a:xfrm>
            <a:off x="1858061" y="4315968"/>
            <a:ext cx="175565" cy="118872"/>
          </a:xfrm>
          <a:prstGeom prst="line">
            <a:avLst/>
          </a:prstGeom>
          <a:noFill/>
          <a:ln w="28575">
            <a:solidFill>
              <a:srgbClr val="E4572E"/>
            </a:solidFill>
            <a:prstDash val="solid"/>
          </a:ln>
        </p:spPr>
      </p:sp>
      <p:sp>
        <p:nvSpPr>
          <p:cNvPr id="19" name="Shape 17"/>
          <p:cNvSpPr/>
          <p:nvPr/>
        </p:nvSpPr>
        <p:spPr>
          <a:xfrm>
            <a:off x="2033626" y="4434840"/>
            <a:ext cx="526694" cy="0"/>
          </a:xfrm>
          <a:prstGeom prst="line">
            <a:avLst/>
          </a:prstGeom>
          <a:noFill/>
          <a:ln w="28575">
            <a:solidFill>
              <a:srgbClr val="E4572E"/>
            </a:solidFill>
            <a:prstDash val="solid"/>
          </a:ln>
        </p:spPr>
      </p:sp>
      <p:sp>
        <p:nvSpPr>
          <p:cNvPr id="20" name="Shape 18"/>
          <p:cNvSpPr/>
          <p:nvPr/>
        </p:nvSpPr>
        <p:spPr>
          <a:xfrm>
            <a:off x="2560320" y="4434840"/>
            <a:ext cx="329184" cy="0"/>
          </a:xfrm>
          <a:prstGeom prst="line">
            <a:avLst/>
          </a:prstGeom>
          <a:noFill/>
          <a:ln w="28575">
            <a:solidFill>
              <a:srgbClr val="E4572E"/>
            </a:solidFill>
            <a:prstDash val="solid"/>
          </a:ln>
        </p:spPr>
      </p:sp>
      <p:sp>
        <p:nvSpPr>
          <p:cNvPr id="21" name="Shape 19"/>
          <p:cNvSpPr/>
          <p:nvPr/>
        </p:nvSpPr>
        <p:spPr>
          <a:xfrm flipV="1">
            <a:off x="2889504" y="4361688"/>
            <a:ext cx="109728" cy="73152"/>
          </a:xfrm>
          <a:prstGeom prst="line">
            <a:avLst/>
          </a:prstGeom>
          <a:noFill/>
          <a:ln w="28575">
            <a:solidFill>
              <a:srgbClr val="E4572E"/>
            </a:solidFill>
            <a:prstDash val="solid"/>
          </a:ln>
        </p:spPr>
      </p:sp>
      <p:sp>
        <p:nvSpPr>
          <p:cNvPr id="22" name="Shape 20"/>
          <p:cNvSpPr/>
          <p:nvPr/>
        </p:nvSpPr>
        <p:spPr>
          <a:xfrm>
            <a:off x="2999232" y="4361688"/>
            <a:ext cx="109728" cy="73152"/>
          </a:xfrm>
          <a:prstGeom prst="line">
            <a:avLst/>
          </a:prstGeom>
          <a:noFill/>
          <a:ln w="28575">
            <a:solidFill>
              <a:srgbClr val="E4572E"/>
            </a:solidFill>
            <a:prstDash val="solid"/>
          </a:ln>
        </p:spPr>
      </p:sp>
      <p:sp>
        <p:nvSpPr>
          <p:cNvPr id="23" name="Shape 21"/>
          <p:cNvSpPr/>
          <p:nvPr/>
        </p:nvSpPr>
        <p:spPr>
          <a:xfrm>
            <a:off x="3108960" y="4434840"/>
            <a:ext cx="153619" cy="0"/>
          </a:xfrm>
          <a:prstGeom prst="line">
            <a:avLst/>
          </a:prstGeom>
          <a:noFill/>
          <a:ln w="28575">
            <a:solidFill>
              <a:srgbClr val="E4572E"/>
            </a:solidFill>
            <a:prstDash val="solid"/>
          </a:ln>
        </p:spPr>
      </p:sp>
      <p:sp>
        <p:nvSpPr>
          <p:cNvPr id="24" name="Shape 22"/>
          <p:cNvSpPr/>
          <p:nvPr/>
        </p:nvSpPr>
        <p:spPr>
          <a:xfrm>
            <a:off x="3262579" y="4434840"/>
            <a:ext cx="65837" cy="54864"/>
          </a:xfrm>
          <a:prstGeom prst="line">
            <a:avLst/>
          </a:prstGeom>
          <a:noFill/>
          <a:ln w="28575">
            <a:solidFill>
              <a:srgbClr val="E4572E"/>
            </a:solidFill>
            <a:prstDash val="solid"/>
          </a:ln>
        </p:spPr>
      </p:sp>
      <p:sp>
        <p:nvSpPr>
          <p:cNvPr id="25" name="Shape 23"/>
          <p:cNvSpPr/>
          <p:nvPr/>
        </p:nvSpPr>
        <p:spPr>
          <a:xfrm flipV="1">
            <a:off x="3328416" y="3931920"/>
            <a:ext cx="109728" cy="557784"/>
          </a:xfrm>
          <a:prstGeom prst="line">
            <a:avLst/>
          </a:prstGeom>
          <a:noFill/>
          <a:ln w="28575">
            <a:solidFill>
              <a:srgbClr val="E4572E"/>
            </a:solidFill>
            <a:prstDash val="solid"/>
          </a:ln>
        </p:spPr>
      </p:sp>
      <p:sp>
        <p:nvSpPr>
          <p:cNvPr id="26" name="Shape 24"/>
          <p:cNvSpPr/>
          <p:nvPr/>
        </p:nvSpPr>
        <p:spPr>
          <a:xfrm>
            <a:off x="3438144" y="3931920"/>
            <a:ext cx="109728" cy="758952"/>
          </a:xfrm>
          <a:prstGeom prst="line">
            <a:avLst/>
          </a:prstGeom>
          <a:noFill/>
          <a:ln w="28575">
            <a:solidFill>
              <a:srgbClr val="E4572E"/>
            </a:solidFill>
            <a:prstDash val="solid"/>
          </a:ln>
        </p:spPr>
      </p:sp>
      <p:sp>
        <p:nvSpPr>
          <p:cNvPr id="27" name="Shape 25"/>
          <p:cNvSpPr/>
          <p:nvPr/>
        </p:nvSpPr>
        <p:spPr>
          <a:xfrm flipV="1">
            <a:off x="3547872" y="4434840"/>
            <a:ext cx="109728" cy="256032"/>
          </a:xfrm>
          <a:prstGeom prst="line">
            <a:avLst/>
          </a:prstGeom>
          <a:noFill/>
          <a:ln w="28575">
            <a:solidFill>
              <a:srgbClr val="E4572E"/>
            </a:solidFill>
            <a:prstDash val="solid"/>
          </a:ln>
        </p:spPr>
      </p:sp>
      <p:sp>
        <p:nvSpPr>
          <p:cNvPr id="28" name="Shape 26"/>
          <p:cNvSpPr/>
          <p:nvPr/>
        </p:nvSpPr>
        <p:spPr>
          <a:xfrm>
            <a:off x="3657600" y="4434840"/>
            <a:ext cx="219456" cy="0"/>
          </a:xfrm>
          <a:prstGeom prst="line">
            <a:avLst/>
          </a:prstGeom>
          <a:noFill/>
          <a:ln w="28575">
            <a:solidFill>
              <a:srgbClr val="E4572E"/>
            </a:solidFill>
            <a:prstDash val="solid"/>
          </a:ln>
        </p:spPr>
      </p:sp>
      <p:sp>
        <p:nvSpPr>
          <p:cNvPr id="29" name="Shape 27"/>
          <p:cNvSpPr/>
          <p:nvPr/>
        </p:nvSpPr>
        <p:spPr>
          <a:xfrm flipV="1">
            <a:off x="3877056" y="4315968"/>
            <a:ext cx="175565" cy="118872"/>
          </a:xfrm>
          <a:prstGeom prst="line">
            <a:avLst/>
          </a:prstGeom>
          <a:noFill/>
          <a:ln w="28575">
            <a:solidFill>
              <a:srgbClr val="E4572E"/>
            </a:solidFill>
            <a:prstDash val="solid"/>
          </a:ln>
        </p:spPr>
      </p:sp>
      <p:sp>
        <p:nvSpPr>
          <p:cNvPr id="30" name="Shape 28"/>
          <p:cNvSpPr/>
          <p:nvPr/>
        </p:nvSpPr>
        <p:spPr>
          <a:xfrm>
            <a:off x="4052621" y="4315968"/>
            <a:ext cx="175565" cy="118872"/>
          </a:xfrm>
          <a:prstGeom prst="line">
            <a:avLst/>
          </a:prstGeom>
          <a:noFill/>
          <a:ln w="28575">
            <a:solidFill>
              <a:srgbClr val="E4572E"/>
            </a:solidFill>
            <a:prstDash val="solid"/>
          </a:ln>
        </p:spPr>
      </p:sp>
      <p:sp>
        <p:nvSpPr>
          <p:cNvPr id="31" name="Shape 29"/>
          <p:cNvSpPr/>
          <p:nvPr/>
        </p:nvSpPr>
        <p:spPr>
          <a:xfrm>
            <a:off x="4228186" y="4434840"/>
            <a:ext cx="526694" cy="0"/>
          </a:xfrm>
          <a:prstGeom prst="line">
            <a:avLst/>
          </a:prstGeom>
          <a:noFill/>
          <a:ln w="28575">
            <a:solidFill>
              <a:srgbClr val="E4572E"/>
            </a:solidFill>
            <a:prstDash val="solid"/>
          </a:ln>
        </p:spPr>
      </p:sp>
      <p:sp>
        <p:nvSpPr>
          <p:cNvPr id="32" name="Shape 30"/>
          <p:cNvSpPr/>
          <p:nvPr/>
        </p:nvSpPr>
        <p:spPr>
          <a:xfrm>
            <a:off x="4754880" y="4434840"/>
            <a:ext cx="329184" cy="0"/>
          </a:xfrm>
          <a:prstGeom prst="line">
            <a:avLst/>
          </a:prstGeom>
          <a:noFill/>
          <a:ln w="28575">
            <a:solidFill>
              <a:srgbClr val="E4572E"/>
            </a:solidFill>
            <a:prstDash val="solid"/>
          </a:ln>
        </p:spPr>
      </p:sp>
      <p:sp>
        <p:nvSpPr>
          <p:cNvPr id="33" name="Shape 31"/>
          <p:cNvSpPr/>
          <p:nvPr/>
        </p:nvSpPr>
        <p:spPr>
          <a:xfrm flipV="1">
            <a:off x="5084064" y="4361688"/>
            <a:ext cx="109728" cy="73152"/>
          </a:xfrm>
          <a:prstGeom prst="line">
            <a:avLst/>
          </a:prstGeom>
          <a:noFill/>
          <a:ln w="28575">
            <a:solidFill>
              <a:srgbClr val="E4572E"/>
            </a:solidFill>
            <a:prstDash val="solid"/>
          </a:ln>
        </p:spPr>
      </p:sp>
      <p:sp>
        <p:nvSpPr>
          <p:cNvPr id="34" name="Shape 32"/>
          <p:cNvSpPr/>
          <p:nvPr/>
        </p:nvSpPr>
        <p:spPr>
          <a:xfrm>
            <a:off x="5193792" y="4361688"/>
            <a:ext cx="109728" cy="73152"/>
          </a:xfrm>
          <a:prstGeom prst="line">
            <a:avLst/>
          </a:prstGeom>
          <a:noFill/>
          <a:ln w="28575">
            <a:solidFill>
              <a:srgbClr val="E4572E"/>
            </a:solidFill>
            <a:prstDash val="solid"/>
          </a:ln>
        </p:spPr>
      </p:sp>
      <p:sp>
        <p:nvSpPr>
          <p:cNvPr id="35" name="Shape 33"/>
          <p:cNvSpPr/>
          <p:nvPr/>
        </p:nvSpPr>
        <p:spPr>
          <a:xfrm>
            <a:off x="5303520" y="4434840"/>
            <a:ext cx="153619" cy="0"/>
          </a:xfrm>
          <a:prstGeom prst="line">
            <a:avLst/>
          </a:prstGeom>
          <a:noFill/>
          <a:ln w="28575">
            <a:solidFill>
              <a:srgbClr val="E4572E"/>
            </a:solidFill>
            <a:prstDash val="solid"/>
          </a:ln>
        </p:spPr>
      </p:sp>
      <p:sp>
        <p:nvSpPr>
          <p:cNvPr id="36" name="Shape 34"/>
          <p:cNvSpPr/>
          <p:nvPr/>
        </p:nvSpPr>
        <p:spPr>
          <a:xfrm>
            <a:off x="5457139" y="4434840"/>
            <a:ext cx="65837" cy="54864"/>
          </a:xfrm>
          <a:prstGeom prst="line">
            <a:avLst/>
          </a:prstGeom>
          <a:noFill/>
          <a:ln w="28575">
            <a:solidFill>
              <a:srgbClr val="E4572E"/>
            </a:solidFill>
            <a:prstDash val="solid"/>
          </a:ln>
        </p:spPr>
      </p:sp>
      <p:sp>
        <p:nvSpPr>
          <p:cNvPr id="37" name="Shape 35"/>
          <p:cNvSpPr/>
          <p:nvPr/>
        </p:nvSpPr>
        <p:spPr>
          <a:xfrm flipV="1">
            <a:off x="5522976" y="3931920"/>
            <a:ext cx="109728" cy="557784"/>
          </a:xfrm>
          <a:prstGeom prst="line">
            <a:avLst/>
          </a:prstGeom>
          <a:noFill/>
          <a:ln w="28575">
            <a:solidFill>
              <a:srgbClr val="E4572E"/>
            </a:solidFill>
            <a:prstDash val="solid"/>
          </a:ln>
        </p:spPr>
      </p:sp>
      <p:sp>
        <p:nvSpPr>
          <p:cNvPr id="38" name="Shape 36"/>
          <p:cNvSpPr/>
          <p:nvPr/>
        </p:nvSpPr>
        <p:spPr>
          <a:xfrm>
            <a:off x="5632704" y="3931920"/>
            <a:ext cx="109728" cy="758952"/>
          </a:xfrm>
          <a:prstGeom prst="line">
            <a:avLst/>
          </a:prstGeom>
          <a:noFill/>
          <a:ln w="28575">
            <a:solidFill>
              <a:srgbClr val="E4572E"/>
            </a:solidFill>
            <a:prstDash val="solid"/>
          </a:ln>
        </p:spPr>
      </p:sp>
      <p:sp>
        <p:nvSpPr>
          <p:cNvPr id="39" name="Shape 37"/>
          <p:cNvSpPr/>
          <p:nvPr/>
        </p:nvSpPr>
        <p:spPr>
          <a:xfrm flipV="1">
            <a:off x="5742432" y="4434840"/>
            <a:ext cx="109728" cy="256032"/>
          </a:xfrm>
          <a:prstGeom prst="line">
            <a:avLst/>
          </a:prstGeom>
          <a:noFill/>
          <a:ln w="28575">
            <a:solidFill>
              <a:srgbClr val="E4572E"/>
            </a:solidFill>
            <a:prstDash val="solid"/>
          </a:ln>
        </p:spPr>
      </p:sp>
      <p:sp>
        <p:nvSpPr>
          <p:cNvPr id="40" name="Shape 38"/>
          <p:cNvSpPr/>
          <p:nvPr/>
        </p:nvSpPr>
        <p:spPr>
          <a:xfrm>
            <a:off x="5852160" y="4434840"/>
            <a:ext cx="219456" cy="0"/>
          </a:xfrm>
          <a:prstGeom prst="line">
            <a:avLst/>
          </a:prstGeom>
          <a:noFill/>
          <a:ln w="28575">
            <a:solidFill>
              <a:srgbClr val="E4572E"/>
            </a:solidFill>
            <a:prstDash val="solid"/>
          </a:ln>
        </p:spPr>
      </p:sp>
      <p:sp>
        <p:nvSpPr>
          <p:cNvPr id="41" name="Shape 39"/>
          <p:cNvSpPr/>
          <p:nvPr/>
        </p:nvSpPr>
        <p:spPr>
          <a:xfrm flipV="1">
            <a:off x="6071616" y="4315968"/>
            <a:ext cx="175565" cy="118872"/>
          </a:xfrm>
          <a:prstGeom prst="line">
            <a:avLst/>
          </a:prstGeom>
          <a:noFill/>
          <a:ln w="28575">
            <a:solidFill>
              <a:srgbClr val="E4572E"/>
            </a:solidFill>
            <a:prstDash val="solid"/>
          </a:ln>
        </p:spPr>
      </p:sp>
      <p:sp>
        <p:nvSpPr>
          <p:cNvPr id="42" name="Shape 40"/>
          <p:cNvSpPr/>
          <p:nvPr/>
        </p:nvSpPr>
        <p:spPr>
          <a:xfrm>
            <a:off x="6247181" y="4315968"/>
            <a:ext cx="175565" cy="118872"/>
          </a:xfrm>
          <a:prstGeom prst="line">
            <a:avLst/>
          </a:prstGeom>
          <a:noFill/>
          <a:ln w="28575">
            <a:solidFill>
              <a:srgbClr val="E4572E"/>
            </a:solidFill>
            <a:prstDash val="solid"/>
          </a:ln>
        </p:spPr>
      </p:sp>
      <p:sp>
        <p:nvSpPr>
          <p:cNvPr id="43" name="Shape 41"/>
          <p:cNvSpPr/>
          <p:nvPr/>
        </p:nvSpPr>
        <p:spPr>
          <a:xfrm>
            <a:off x="6422746" y="4434840"/>
            <a:ext cx="526694" cy="0"/>
          </a:xfrm>
          <a:prstGeom prst="line">
            <a:avLst/>
          </a:prstGeom>
          <a:noFill/>
          <a:ln w="28575">
            <a:solidFill>
              <a:srgbClr val="E4572E"/>
            </a:solidFill>
            <a:prstDash val="solid"/>
          </a:ln>
        </p:spPr>
      </p:sp>
      <p:sp>
        <p:nvSpPr>
          <p:cNvPr id="44" name="Shape 42"/>
          <p:cNvSpPr/>
          <p:nvPr/>
        </p:nvSpPr>
        <p:spPr>
          <a:xfrm>
            <a:off x="6949440" y="4434840"/>
            <a:ext cx="329184" cy="0"/>
          </a:xfrm>
          <a:prstGeom prst="line">
            <a:avLst/>
          </a:prstGeom>
          <a:noFill/>
          <a:ln w="28575">
            <a:solidFill>
              <a:srgbClr val="E4572E"/>
            </a:solidFill>
            <a:prstDash val="solid"/>
          </a:ln>
        </p:spPr>
      </p:sp>
      <p:sp>
        <p:nvSpPr>
          <p:cNvPr id="45" name="Shape 43"/>
          <p:cNvSpPr/>
          <p:nvPr/>
        </p:nvSpPr>
        <p:spPr>
          <a:xfrm flipV="1">
            <a:off x="7278624" y="4361688"/>
            <a:ext cx="109728" cy="73152"/>
          </a:xfrm>
          <a:prstGeom prst="line">
            <a:avLst/>
          </a:prstGeom>
          <a:noFill/>
          <a:ln w="28575">
            <a:solidFill>
              <a:srgbClr val="E4572E"/>
            </a:solidFill>
            <a:prstDash val="solid"/>
          </a:ln>
        </p:spPr>
      </p:sp>
      <p:sp>
        <p:nvSpPr>
          <p:cNvPr id="46" name="Shape 44"/>
          <p:cNvSpPr/>
          <p:nvPr/>
        </p:nvSpPr>
        <p:spPr>
          <a:xfrm>
            <a:off x="7388352" y="4361688"/>
            <a:ext cx="109728" cy="73152"/>
          </a:xfrm>
          <a:prstGeom prst="line">
            <a:avLst/>
          </a:prstGeom>
          <a:noFill/>
          <a:ln w="28575">
            <a:solidFill>
              <a:srgbClr val="E4572E"/>
            </a:solidFill>
            <a:prstDash val="solid"/>
          </a:ln>
        </p:spPr>
      </p:sp>
      <p:sp>
        <p:nvSpPr>
          <p:cNvPr id="47" name="Shape 45"/>
          <p:cNvSpPr/>
          <p:nvPr/>
        </p:nvSpPr>
        <p:spPr>
          <a:xfrm>
            <a:off x="7498080" y="4434840"/>
            <a:ext cx="153619" cy="0"/>
          </a:xfrm>
          <a:prstGeom prst="line">
            <a:avLst/>
          </a:prstGeom>
          <a:noFill/>
          <a:ln w="28575">
            <a:solidFill>
              <a:srgbClr val="E4572E"/>
            </a:solidFill>
            <a:prstDash val="solid"/>
          </a:ln>
        </p:spPr>
      </p:sp>
      <p:sp>
        <p:nvSpPr>
          <p:cNvPr id="48" name="Shape 46"/>
          <p:cNvSpPr/>
          <p:nvPr/>
        </p:nvSpPr>
        <p:spPr>
          <a:xfrm>
            <a:off x="7651699" y="4434840"/>
            <a:ext cx="65837" cy="54864"/>
          </a:xfrm>
          <a:prstGeom prst="line">
            <a:avLst/>
          </a:prstGeom>
          <a:noFill/>
          <a:ln w="28575">
            <a:solidFill>
              <a:srgbClr val="E4572E"/>
            </a:solidFill>
            <a:prstDash val="solid"/>
          </a:ln>
        </p:spPr>
      </p:sp>
      <p:sp>
        <p:nvSpPr>
          <p:cNvPr id="49" name="Shape 47"/>
          <p:cNvSpPr/>
          <p:nvPr/>
        </p:nvSpPr>
        <p:spPr>
          <a:xfrm flipV="1">
            <a:off x="7717536" y="3931920"/>
            <a:ext cx="109728" cy="557784"/>
          </a:xfrm>
          <a:prstGeom prst="line">
            <a:avLst/>
          </a:prstGeom>
          <a:noFill/>
          <a:ln w="28575">
            <a:solidFill>
              <a:srgbClr val="E4572E"/>
            </a:solidFill>
            <a:prstDash val="solid"/>
          </a:ln>
        </p:spPr>
      </p:sp>
      <p:sp>
        <p:nvSpPr>
          <p:cNvPr id="50" name="Shape 48"/>
          <p:cNvSpPr/>
          <p:nvPr/>
        </p:nvSpPr>
        <p:spPr>
          <a:xfrm>
            <a:off x="7827264" y="3931920"/>
            <a:ext cx="109728" cy="758952"/>
          </a:xfrm>
          <a:prstGeom prst="line">
            <a:avLst/>
          </a:prstGeom>
          <a:noFill/>
          <a:ln w="28575">
            <a:solidFill>
              <a:srgbClr val="E4572E"/>
            </a:solidFill>
            <a:prstDash val="solid"/>
          </a:ln>
        </p:spPr>
      </p:sp>
      <p:sp>
        <p:nvSpPr>
          <p:cNvPr id="51" name="Shape 49"/>
          <p:cNvSpPr/>
          <p:nvPr/>
        </p:nvSpPr>
        <p:spPr>
          <a:xfrm flipV="1">
            <a:off x="7936992" y="4434840"/>
            <a:ext cx="109728" cy="256032"/>
          </a:xfrm>
          <a:prstGeom prst="line">
            <a:avLst/>
          </a:prstGeom>
          <a:noFill/>
          <a:ln w="28575">
            <a:solidFill>
              <a:srgbClr val="E4572E"/>
            </a:solidFill>
            <a:prstDash val="solid"/>
          </a:ln>
        </p:spPr>
      </p:sp>
      <p:sp>
        <p:nvSpPr>
          <p:cNvPr id="52" name="Shape 50"/>
          <p:cNvSpPr/>
          <p:nvPr/>
        </p:nvSpPr>
        <p:spPr>
          <a:xfrm>
            <a:off x="8046720" y="4434840"/>
            <a:ext cx="219456" cy="0"/>
          </a:xfrm>
          <a:prstGeom prst="line">
            <a:avLst/>
          </a:prstGeom>
          <a:noFill/>
          <a:ln w="28575">
            <a:solidFill>
              <a:srgbClr val="E4572E"/>
            </a:solidFill>
            <a:prstDash val="solid"/>
          </a:ln>
        </p:spPr>
      </p:sp>
      <p:sp>
        <p:nvSpPr>
          <p:cNvPr id="53" name="Shape 51"/>
          <p:cNvSpPr/>
          <p:nvPr/>
        </p:nvSpPr>
        <p:spPr>
          <a:xfrm flipV="1">
            <a:off x="8266176" y="4315968"/>
            <a:ext cx="175565" cy="118872"/>
          </a:xfrm>
          <a:prstGeom prst="line">
            <a:avLst/>
          </a:prstGeom>
          <a:noFill/>
          <a:ln w="28575">
            <a:solidFill>
              <a:srgbClr val="E4572E"/>
            </a:solidFill>
            <a:prstDash val="solid"/>
          </a:ln>
        </p:spPr>
      </p:sp>
      <p:sp>
        <p:nvSpPr>
          <p:cNvPr id="54" name="Shape 52"/>
          <p:cNvSpPr/>
          <p:nvPr/>
        </p:nvSpPr>
        <p:spPr>
          <a:xfrm>
            <a:off x="8441741" y="4315968"/>
            <a:ext cx="175565" cy="118872"/>
          </a:xfrm>
          <a:prstGeom prst="line">
            <a:avLst/>
          </a:prstGeom>
          <a:noFill/>
          <a:ln w="28575">
            <a:solidFill>
              <a:srgbClr val="E4572E"/>
            </a:solidFill>
            <a:prstDash val="solid"/>
          </a:ln>
        </p:spPr>
      </p:sp>
      <p:sp>
        <p:nvSpPr>
          <p:cNvPr id="55" name="Shape 53"/>
          <p:cNvSpPr/>
          <p:nvPr/>
        </p:nvSpPr>
        <p:spPr>
          <a:xfrm>
            <a:off x="8617306" y="4434840"/>
            <a:ext cx="526694" cy="0"/>
          </a:xfrm>
          <a:prstGeom prst="line">
            <a:avLst/>
          </a:prstGeom>
          <a:noFill/>
          <a:ln w="28575">
            <a:solidFill>
              <a:srgbClr val="E4572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1B2B34"/>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457200" y="1280160"/>
            <a:ext cx="8229600" cy="914400"/>
          </a:xfrm>
          <a:prstGeom prst="rect">
            <a:avLst/>
          </a:prstGeom>
          <a:solidFill>
            <a:srgbClr val="13404F"/>
          </a:solidFill>
          <a:ln w="12700">
            <a:solidFill>
              <a:srgbClr val="13404F"/>
            </a:solidFill>
            <a:prstDash val="solid"/>
          </a:ln>
        </p:spPr>
      </p:sp>
      <p:sp>
        <p:nvSpPr>
          <p:cNvPr id="5" name="Text 3"/>
          <p:cNvSpPr txBox="1"/>
          <p:nvPr/>
        </p:nvSpPr>
        <p:spPr>
          <a:xfrm>
            <a:off x="685800" y="1280160"/>
            <a:ext cx="7772400" cy="91440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Patient data sits in separate FHIR APIs, wearables and EHR systems, and hospitals cannot pool it to build shared AI models. MediSphere creates a digital health twin for each patient and predicts future health risks with continuous-learning models.</a:t>
            </a:r>
            <a:endParaRPr lang="en-US" sz="1350" dirty="0"/>
          </a:p>
        </p:txBody>
      </p:sp>
      <p:sp>
        <p:nvSpPr>
          <p:cNvPr id="6" name="Shape 4"/>
          <p:cNvSpPr/>
          <p:nvPr/>
        </p:nvSpPr>
        <p:spPr>
          <a:xfrm>
            <a:off x="457200" y="2377440"/>
            <a:ext cx="4023360" cy="10515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7" name="Shape 5"/>
          <p:cNvSpPr/>
          <p:nvPr/>
        </p:nvSpPr>
        <p:spPr>
          <a:xfrm>
            <a:off x="640080" y="2651760"/>
            <a:ext cx="502920" cy="50292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3"/>
          <a:stretch>
            <a:fillRect/>
          </a:stretch>
        </p:blipFill>
        <p:spPr>
          <a:xfrm>
            <a:off x="765810" y="2777490"/>
            <a:ext cx="251460" cy="251460"/>
          </a:xfrm>
          <a:prstGeom prst="rect">
            <a:avLst/>
          </a:prstGeom>
        </p:spPr>
      </p:pic>
      <p:sp>
        <p:nvSpPr>
          <p:cNvPr id="9" name="Text 6"/>
          <p:cNvSpPr txBox="1"/>
          <p:nvPr/>
        </p:nvSpPr>
        <p:spPr>
          <a:xfrm>
            <a:off x="1325880" y="2496312"/>
            <a:ext cx="3017520" cy="274320"/>
          </a:xfrm>
          <a:prstGeom prst="rect">
            <a:avLst/>
          </a:prstGeom>
          <a:noFill/>
          <a:ln/>
        </p:spPr>
        <p:txBody>
          <a:bodyPr wrap="square" lIns="0" tIns="0" rIns="0" bIns="0" rtlCol="0" anchor="ctr"/>
          <a:lstStyle/>
          <a:p>
            <a:pPr marL="0" indent="0">
              <a:buNone/>
            </a:pPr>
            <a:r>
              <a:rPr lang="en-US" sz="1400" b="1" dirty="0">
                <a:solidFill>
                  <a:srgbClr val="1B2B34"/>
                </a:solidFill>
                <a:latin typeface="Calibri" pitchFamily="34" charset="0"/>
                <a:ea typeface="Calibri" pitchFamily="34" charset="-122"/>
                <a:cs typeface="Calibri" pitchFamily="34" charset="-120"/>
              </a:rPr>
              <a:t>Digital health twins</a:t>
            </a:r>
            <a:endParaRPr lang="en-US" sz="1400" dirty="0"/>
          </a:p>
        </p:txBody>
      </p:sp>
      <p:sp>
        <p:nvSpPr>
          <p:cNvPr id="10" name="Text 7"/>
          <p:cNvSpPr txBox="1"/>
          <p:nvPr/>
        </p:nvSpPr>
        <p:spPr>
          <a:xfrm>
            <a:off x="1325880" y="2798064"/>
            <a:ext cx="3017520" cy="566928"/>
          </a:xfrm>
          <a:prstGeom prst="rect">
            <a:avLst/>
          </a:prstGeom>
          <a:noFill/>
          <a:ln/>
        </p:spPr>
        <p:txBody>
          <a:bodyPr wrap="square" lIns="0" tIns="0" rIns="0" bIns="0" rtlCol="0" anchor="t"/>
          <a:lstStyle/>
          <a:p>
            <a:pPr marL="0" indent="0">
              <a:buNone/>
            </a:pPr>
            <a:r>
              <a:rPr lang="en-US" sz="1150" dirty="0">
                <a:solidFill>
                  <a:srgbClr val="5B6E78"/>
                </a:solidFill>
                <a:latin typeface="Calibri" pitchFamily="34" charset="0"/>
                <a:ea typeface="Calibri" pitchFamily="34" charset="-122"/>
                <a:cs typeface="Calibri" pitchFamily="34" charset="-120"/>
              </a:rPr>
              <a:t>Combine FHIR, wearable and EHR data into one continuously updated twin per patient.</a:t>
            </a:r>
            <a:endParaRPr lang="en-US" sz="1150" dirty="0"/>
          </a:p>
        </p:txBody>
      </p:sp>
      <p:sp>
        <p:nvSpPr>
          <p:cNvPr id="11" name="Shape 8"/>
          <p:cNvSpPr/>
          <p:nvPr/>
        </p:nvSpPr>
        <p:spPr>
          <a:xfrm>
            <a:off x="4663440" y="2377440"/>
            <a:ext cx="4023360" cy="10515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2" name="Shape 9"/>
          <p:cNvSpPr/>
          <p:nvPr/>
        </p:nvSpPr>
        <p:spPr>
          <a:xfrm>
            <a:off x="4846320" y="2651760"/>
            <a:ext cx="502920" cy="502920"/>
          </a:xfrm>
          <a:prstGeom prst="ellipse">
            <a:avLst/>
          </a:prstGeom>
          <a:solidFill>
            <a:srgbClr val="E4572E"/>
          </a:solidFill>
          <a:ln w="12700">
            <a:solidFill>
              <a:srgbClr val="E4572E"/>
            </a:solidFill>
            <a:prstDash val="solid"/>
          </a:ln>
        </p:spPr>
      </p:sp>
      <p:pic>
        <p:nvPicPr>
          <p:cNvPr id="13" name="Image 1" descr="preencoded.png"/>
          <p:cNvPicPr>
            <a:picLocks noChangeAspect="1"/>
          </p:cNvPicPr>
          <p:nvPr/>
        </p:nvPicPr>
        <p:blipFill>
          <a:blip r:embed="rId4"/>
          <a:stretch>
            <a:fillRect/>
          </a:stretch>
        </p:blipFill>
        <p:spPr>
          <a:xfrm>
            <a:off x="4972050" y="2777490"/>
            <a:ext cx="251460" cy="251460"/>
          </a:xfrm>
          <a:prstGeom prst="rect">
            <a:avLst/>
          </a:prstGeom>
        </p:spPr>
      </p:pic>
      <p:sp>
        <p:nvSpPr>
          <p:cNvPr id="14" name="Text 10"/>
          <p:cNvSpPr txBox="1"/>
          <p:nvPr/>
        </p:nvSpPr>
        <p:spPr>
          <a:xfrm>
            <a:off x="5532120" y="2496312"/>
            <a:ext cx="3017520" cy="274320"/>
          </a:xfrm>
          <a:prstGeom prst="rect">
            <a:avLst/>
          </a:prstGeom>
          <a:noFill/>
          <a:ln/>
        </p:spPr>
        <p:txBody>
          <a:bodyPr wrap="square" lIns="0" tIns="0" rIns="0" bIns="0" rtlCol="0" anchor="ctr"/>
          <a:lstStyle/>
          <a:p>
            <a:pPr marL="0" indent="0">
              <a:buNone/>
            </a:pPr>
            <a:r>
              <a:rPr lang="en-US" sz="1400" b="1" dirty="0">
                <a:solidFill>
                  <a:srgbClr val="1B2B34"/>
                </a:solidFill>
                <a:latin typeface="Calibri" pitchFamily="34" charset="0"/>
                <a:ea typeface="Calibri" pitchFamily="34" charset="-122"/>
                <a:cs typeface="Calibri" pitchFamily="34" charset="-120"/>
              </a:rPr>
              <a:t>Predict future risk</a:t>
            </a:r>
            <a:endParaRPr lang="en-US" sz="1400" dirty="0"/>
          </a:p>
        </p:txBody>
      </p:sp>
      <p:sp>
        <p:nvSpPr>
          <p:cNvPr id="15" name="Text 11"/>
          <p:cNvSpPr txBox="1"/>
          <p:nvPr/>
        </p:nvSpPr>
        <p:spPr>
          <a:xfrm>
            <a:off x="5532120" y="2798064"/>
            <a:ext cx="3017520" cy="566928"/>
          </a:xfrm>
          <a:prstGeom prst="rect">
            <a:avLst/>
          </a:prstGeom>
          <a:noFill/>
          <a:ln/>
        </p:spPr>
        <p:txBody>
          <a:bodyPr wrap="square" lIns="0" tIns="0" rIns="0" bIns="0" rtlCol="0" anchor="t"/>
          <a:lstStyle/>
          <a:p>
            <a:pPr marL="0" indent="0">
              <a:buNone/>
            </a:pPr>
            <a:r>
              <a:rPr lang="en-US" sz="1150" dirty="0">
                <a:solidFill>
                  <a:srgbClr val="5B6E78"/>
                </a:solidFill>
                <a:latin typeface="Calibri" pitchFamily="34" charset="0"/>
                <a:ea typeface="Calibri" pitchFamily="34" charset="-122"/>
                <a:cs typeface="Calibri" pitchFamily="34" charset="-120"/>
              </a:rPr>
              <a:t>AI models estimate cardiovascular risk, diabetes complications and hospital readmission.</a:t>
            </a:r>
            <a:endParaRPr lang="en-US" sz="1150" dirty="0"/>
          </a:p>
        </p:txBody>
      </p:sp>
      <p:sp>
        <p:nvSpPr>
          <p:cNvPr id="16" name="Shape 12"/>
          <p:cNvSpPr/>
          <p:nvPr/>
        </p:nvSpPr>
        <p:spPr>
          <a:xfrm>
            <a:off x="457200" y="3566160"/>
            <a:ext cx="4023360" cy="10515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7" name="Shape 13"/>
          <p:cNvSpPr/>
          <p:nvPr/>
        </p:nvSpPr>
        <p:spPr>
          <a:xfrm>
            <a:off x="640080" y="3840480"/>
            <a:ext cx="502920" cy="502920"/>
          </a:xfrm>
          <a:prstGeom prst="ellipse">
            <a:avLst/>
          </a:prstGeom>
          <a:solidFill>
            <a:srgbClr val="C9861A"/>
          </a:solidFill>
          <a:ln w="12700">
            <a:solidFill>
              <a:srgbClr val="C9861A"/>
            </a:solidFill>
            <a:prstDash val="solid"/>
          </a:ln>
        </p:spPr>
      </p:sp>
      <p:pic>
        <p:nvPicPr>
          <p:cNvPr id="18" name="Image 2" descr="preencoded.png"/>
          <p:cNvPicPr>
            <a:picLocks noChangeAspect="1"/>
          </p:cNvPicPr>
          <p:nvPr/>
        </p:nvPicPr>
        <p:blipFill>
          <a:blip r:embed="rId5"/>
          <a:stretch>
            <a:fillRect/>
          </a:stretch>
        </p:blipFill>
        <p:spPr>
          <a:xfrm>
            <a:off x="765810" y="3966210"/>
            <a:ext cx="251460" cy="251460"/>
          </a:xfrm>
          <a:prstGeom prst="rect">
            <a:avLst/>
          </a:prstGeom>
        </p:spPr>
      </p:pic>
      <p:sp>
        <p:nvSpPr>
          <p:cNvPr id="19" name="Text 14"/>
          <p:cNvSpPr txBox="1"/>
          <p:nvPr/>
        </p:nvSpPr>
        <p:spPr>
          <a:xfrm>
            <a:off x="1325880" y="3685032"/>
            <a:ext cx="3017520" cy="274320"/>
          </a:xfrm>
          <a:prstGeom prst="rect">
            <a:avLst/>
          </a:prstGeom>
          <a:noFill/>
          <a:ln/>
        </p:spPr>
        <p:txBody>
          <a:bodyPr wrap="square" lIns="0" tIns="0" rIns="0" bIns="0" rtlCol="0" anchor="ctr"/>
          <a:lstStyle/>
          <a:p>
            <a:pPr marL="0" indent="0">
              <a:buNone/>
            </a:pPr>
            <a:r>
              <a:rPr lang="en-US" sz="1400" b="1" dirty="0">
                <a:solidFill>
                  <a:srgbClr val="1B2B34"/>
                </a:solidFill>
                <a:latin typeface="Calibri" pitchFamily="34" charset="0"/>
                <a:ea typeface="Calibri" pitchFamily="34" charset="-122"/>
                <a:cs typeface="Calibri" pitchFamily="34" charset="-120"/>
              </a:rPr>
              <a:t>Privacy-preserving learning</a:t>
            </a:r>
            <a:endParaRPr lang="en-US" sz="1400" dirty="0"/>
          </a:p>
        </p:txBody>
      </p:sp>
      <p:sp>
        <p:nvSpPr>
          <p:cNvPr id="20" name="Text 15"/>
          <p:cNvSpPr txBox="1"/>
          <p:nvPr/>
        </p:nvSpPr>
        <p:spPr>
          <a:xfrm>
            <a:off x="1325880" y="3986784"/>
            <a:ext cx="3017520" cy="566928"/>
          </a:xfrm>
          <a:prstGeom prst="rect">
            <a:avLst/>
          </a:prstGeom>
          <a:noFill/>
          <a:ln/>
        </p:spPr>
        <p:txBody>
          <a:bodyPr wrap="square" lIns="0" tIns="0" rIns="0" bIns="0" rtlCol="0" anchor="t"/>
          <a:lstStyle/>
          <a:p>
            <a:pPr marL="0" indent="0">
              <a:buNone/>
            </a:pPr>
            <a:r>
              <a:rPr lang="en-US" sz="1150" dirty="0">
                <a:solidFill>
                  <a:srgbClr val="5B6E78"/>
                </a:solidFill>
                <a:latin typeface="Calibri" pitchFamily="34" charset="0"/>
                <a:ea typeface="Calibri" pitchFamily="34" charset="-122"/>
                <a:cs typeface="Calibri" pitchFamily="34" charset="-120"/>
              </a:rPr>
              <a:t>Federated learning trains risk models across hospitals without sharing patient data.</a:t>
            </a:r>
            <a:endParaRPr lang="en-US" sz="1150" dirty="0"/>
          </a:p>
        </p:txBody>
      </p:sp>
      <p:sp>
        <p:nvSpPr>
          <p:cNvPr id="21" name="Shape 16"/>
          <p:cNvSpPr/>
          <p:nvPr/>
        </p:nvSpPr>
        <p:spPr>
          <a:xfrm>
            <a:off x="4663440" y="3566160"/>
            <a:ext cx="4023360" cy="10515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2" name="Shape 17"/>
          <p:cNvSpPr/>
          <p:nvPr/>
        </p:nvSpPr>
        <p:spPr>
          <a:xfrm>
            <a:off x="4846320" y="3840480"/>
            <a:ext cx="502920" cy="50292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6"/>
          <a:stretch>
            <a:fillRect/>
          </a:stretch>
        </p:blipFill>
        <p:spPr>
          <a:xfrm>
            <a:off x="4972050" y="3966210"/>
            <a:ext cx="251460" cy="251460"/>
          </a:xfrm>
          <a:prstGeom prst="rect">
            <a:avLst/>
          </a:prstGeom>
        </p:spPr>
      </p:pic>
      <p:sp>
        <p:nvSpPr>
          <p:cNvPr id="24" name="Text 18"/>
          <p:cNvSpPr txBox="1"/>
          <p:nvPr/>
        </p:nvSpPr>
        <p:spPr>
          <a:xfrm>
            <a:off x="5532120" y="3685032"/>
            <a:ext cx="3017520" cy="274320"/>
          </a:xfrm>
          <a:prstGeom prst="rect">
            <a:avLst/>
          </a:prstGeom>
          <a:noFill/>
          <a:ln/>
        </p:spPr>
        <p:txBody>
          <a:bodyPr wrap="square" lIns="0" tIns="0" rIns="0" bIns="0" rtlCol="0" anchor="ctr"/>
          <a:lstStyle/>
          <a:p>
            <a:pPr marL="0" indent="0">
              <a:buNone/>
            </a:pPr>
            <a:r>
              <a:rPr lang="en-US" sz="1400" b="1" dirty="0">
                <a:solidFill>
                  <a:srgbClr val="1B2B34"/>
                </a:solidFill>
                <a:latin typeface="Calibri" pitchFamily="34" charset="0"/>
                <a:ea typeface="Calibri" pitchFamily="34" charset="-122"/>
                <a:cs typeface="Calibri" pitchFamily="34" charset="-120"/>
              </a:rPr>
              <a:t>Preventive, HIPAA-compliant care</a:t>
            </a:r>
            <a:endParaRPr lang="en-US" sz="1400" dirty="0"/>
          </a:p>
        </p:txBody>
      </p:sp>
      <p:sp>
        <p:nvSpPr>
          <p:cNvPr id="25" name="Text 19"/>
          <p:cNvSpPr txBox="1"/>
          <p:nvPr/>
        </p:nvSpPr>
        <p:spPr>
          <a:xfrm>
            <a:off x="5532120" y="3986784"/>
            <a:ext cx="3017520" cy="566928"/>
          </a:xfrm>
          <a:prstGeom prst="rect">
            <a:avLst/>
          </a:prstGeom>
          <a:noFill/>
          <a:ln/>
        </p:spPr>
        <p:txBody>
          <a:bodyPr wrap="square" lIns="0" tIns="0" rIns="0" bIns="0" rtlCol="0" anchor="t"/>
          <a:lstStyle/>
          <a:p>
            <a:pPr marL="0" indent="0">
              <a:buNone/>
            </a:pPr>
            <a:r>
              <a:rPr lang="en-US" sz="1150" dirty="0">
                <a:solidFill>
                  <a:srgbClr val="5B6E78"/>
                </a:solidFill>
                <a:latin typeface="Calibri" pitchFamily="34" charset="0"/>
                <a:ea typeface="Calibri" pitchFamily="34" charset="-122"/>
                <a:cs typeface="Calibri" pitchFamily="34" charset="-120"/>
              </a:rPr>
              <a:t>Early intervention and personalized care plans while staying HIPAA compliant.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TECHNOLOGIES USED</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1B2B34"/>
                </a:solidFill>
                <a:latin typeface="Cambria" pitchFamily="34" charset="0"/>
                <a:ea typeface="Cambria" pitchFamily="34" charset="-122"/>
                <a:cs typeface="Cambria" pitchFamily="34" charset="-120"/>
              </a:rPr>
              <a:t>Technology Stack</a:t>
            </a:r>
            <a:endParaRPr lang="en-US" sz="3200" dirty="0"/>
          </a:p>
        </p:txBody>
      </p:sp>
      <p:sp>
        <p:nvSpPr>
          <p:cNvPr id="4" name="Shape 2"/>
          <p:cNvSpPr/>
          <p:nvPr/>
        </p:nvSpPr>
        <p:spPr>
          <a:xfrm>
            <a:off x="457200" y="1280160"/>
            <a:ext cx="8229600" cy="5943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 name="Shape 3"/>
          <p:cNvSpPr/>
          <p:nvPr/>
        </p:nvSpPr>
        <p:spPr>
          <a:xfrm>
            <a:off x="640080" y="1385316"/>
            <a:ext cx="384048" cy="384048"/>
          </a:xfrm>
          <a:prstGeom prst="ellipse">
            <a:avLst/>
          </a:prstGeom>
          <a:solidFill>
            <a:srgbClr val="0E7C86"/>
          </a:solidFill>
          <a:ln w="12700">
            <a:solidFill>
              <a:srgbClr val="0E7C86"/>
            </a:solidFill>
            <a:prstDash val="solid"/>
          </a:ln>
        </p:spPr>
      </p:sp>
      <p:pic>
        <p:nvPicPr>
          <p:cNvPr id="6" name="Image 0" descr="preencoded.png"/>
          <p:cNvPicPr>
            <a:picLocks noChangeAspect="1"/>
          </p:cNvPicPr>
          <p:nvPr/>
        </p:nvPicPr>
        <p:blipFill>
          <a:blip r:embed="rId3"/>
          <a:stretch>
            <a:fillRect/>
          </a:stretch>
        </p:blipFill>
        <p:spPr>
          <a:xfrm>
            <a:off x="736092" y="1481328"/>
            <a:ext cx="192024" cy="192024"/>
          </a:xfrm>
          <a:prstGeom prst="rect">
            <a:avLst/>
          </a:prstGeom>
        </p:spPr>
      </p:pic>
      <p:sp>
        <p:nvSpPr>
          <p:cNvPr id="7" name="Text 4"/>
          <p:cNvSpPr txBox="1"/>
          <p:nvPr/>
        </p:nvSpPr>
        <p:spPr>
          <a:xfrm>
            <a:off x="1188720" y="1280160"/>
            <a:ext cx="1463040" cy="59436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Frontend</a:t>
            </a:r>
            <a:endParaRPr lang="en-US" sz="1300" dirty="0"/>
          </a:p>
        </p:txBody>
      </p:sp>
      <p:sp>
        <p:nvSpPr>
          <p:cNvPr id="8" name="Shape 5"/>
          <p:cNvSpPr/>
          <p:nvPr/>
        </p:nvSpPr>
        <p:spPr>
          <a:xfrm>
            <a:off x="2743200" y="1421892"/>
            <a:ext cx="621792" cy="310896"/>
          </a:xfrm>
          <a:prstGeom prst="roundRect">
            <a:avLst>
              <a:gd name="adj" fmla="val 23529"/>
            </a:avLst>
          </a:prstGeom>
          <a:solidFill>
            <a:srgbClr val="D6ECEE"/>
          </a:solidFill>
          <a:ln w="12700">
            <a:solidFill>
              <a:srgbClr val="D6ECEE"/>
            </a:solidFill>
            <a:prstDash val="solid"/>
          </a:ln>
        </p:spPr>
      </p:sp>
      <p:sp>
        <p:nvSpPr>
          <p:cNvPr id="9" name="Text 6"/>
          <p:cNvSpPr txBox="1"/>
          <p:nvPr/>
        </p:nvSpPr>
        <p:spPr>
          <a:xfrm>
            <a:off x="2743200" y="1421892"/>
            <a:ext cx="621792" cy="310896"/>
          </a:xfrm>
          <a:prstGeom prst="rect">
            <a:avLst/>
          </a:prstGeom>
          <a:noFill/>
          <a:ln/>
        </p:spPr>
        <p:txBody>
          <a:bodyPr wrap="square" lIns="0" tIns="0" rIns="0" bIns="0" rtlCol="0" anchor="ctr"/>
          <a:lstStyle/>
          <a:p>
            <a:pPr marL="0" indent="0" algn="ctr">
              <a:buNone/>
            </a:pPr>
            <a:r>
              <a:rPr lang="en-US" sz="1050" dirty="0">
                <a:solidFill>
                  <a:srgbClr val="1B2B34"/>
                </a:solidFill>
                <a:latin typeface="Calibri" pitchFamily="34" charset="0"/>
                <a:ea typeface="Calibri" pitchFamily="34" charset="-122"/>
                <a:cs typeface="Calibri" pitchFamily="34" charset="-120"/>
              </a:rPr>
              <a:t>React</a:t>
            </a:r>
            <a:endParaRPr lang="en-US" sz="1050" dirty="0"/>
          </a:p>
        </p:txBody>
      </p:sp>
      <p:sp>
        <p:nvSpPr>
          <p:cNvPr id="10" name="Shape 7"/>
          <p:cNvSpPr/>
          <p:nvPr/>
        </p:nvSpPr>
        <p:spPr>
          <a:xfrm>
            <a:off x="3474720" y="1421892"/>
            <a:ext cx="1082650" cy="310896"/>
          </a:xfrm>
          <a:prstGeom prst="roundRect">
            <a:avLst>
              <a:gd name="adj" fmla="val 23529"/>
            </a:avLst>
          </a:prstGeom>
          <a:solidFill>
            <a:srgbClr val="D6ECEE"/>
          </a:solidFill>
          <a:ln w="12700">
            <a:solidFill>
              <a:srgbClr val="D6ECEE"/>
            </a:solidFill>
            <a:prstDash val="solid"/>
          </a:ln>
        </p:spPr>
      </p:sp>
      <p:sp>
        <p:nvSpPr>
          <p:cNvPr id="11" name="Text 8"/>
          <p:cNvSpPr txBox="1"/>
          <p:nvPr/>
        </p:nvSpPr>
        <p:spPr>
          <a:xfrm>
            <a:off x="3474720" y="1421892"/>
            <a:ext cx="1082650" cy="310896"/>
          </a:xfrm>
          <a:prstGeom prst="rect">
            <a:avLst/>
          </a:prstGeom>
          <a:noFill/>
          <a:ln/>
        </p:spPr>
        <p:txBody>
          <a:bodyPr wrap="square" lIns="0" tIns="0" rIns="0" bIns="0" rtlCol="0" anchor="ctr"/>
          <a:lstStyle/>
          <a:p>
            <a:pPr marL="0" indent="0" algn="ctr">
              <a:buNone/>
            </a:pPr>
            <a:r>
              <a:rPr lang="en-US" sz="1050" dirty="0">
                <a:solidFill>
                  <a:srgbClr val="1B2B34"/>
                </a:solidFill>
                <a:latin typeface="Calibri" pitchFamily="34" charset="0"/>
                <a:ea typeface="Calibri" pitchFamily="34" charset="-122"/>
                <a:cs typeface="Calibri" pitchFamily="34" charset="-120"/>
              </a:rPr>
              <a:t>Tailwind CSS</a:t>
            </a:r>
            <a:endParaRPr lang="en-US" sz="1050" dirty="0"/>
          </a:p>
        </p:txBody>
      </p:sp>
      <p:sp>
        <p:nvSpPr>
          <p:cNvPr id="12" name="Shape 9"/>
          <p:cNvSpPr/>
          <p:nvPr/>
        </p:nvSpPr>
        <p:spPr>
          <a:xfrm>
            <a:off x="457200" y="1965960"/>
            <a:ext cx="8229600" cy="5943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3" name="Shape 10"/>
          <p:cNvSpPr/>
          <p:nvPr/>
        </p:nvSpPr>
        <p:spPr>
          <a:xfrm>
            <a:off x="640080" y="2071116"/>
            <a:ext cx="384048" cy="384048"/>
          </a:xfrm>
          <a:prstGeom prst="ellipse">
            <a:avLst/>
          </a:prstGeom>
          <a:solidFill>
            <a:srgbClr val="0E7C86"/>
          </a:solidFill>
          <a:ln w="12700">
            <a:solidFill>
              <a:srgbClr val="0E7C86"/>
            </a:solidFill>
            <a:prstDash val="solid"/>
          </a:ln>
        </p:spPr>
      </p:sp>
      <p:pic>
        <p:nvPicPr>
          <p:cNvPr id="14" name="Image 1" descr="preencoded.png"/>
          <p:cNvPicPr>
            <a:picLocks noChangeAspect="1"/>
          </p:cNvPicPr>
          <p:nvPr/>
        </p:nvPicPr>
        <p:blipFill>
          <a:blip r:embed="rId4"/>
          <a:stretch>
            <a:fillRect/>
          </a:stretch>
        </p:blipFill>
        <p:spPr>
          <a:xfrm>
            <a:off x="736092" y="2167128"/>
            <a:ext cx="192024" cy="192024"/>
          </a:xfrm>
          <a:prstGeom prst="rect">
            <a:avLst/>
          </a:prstGeom>
        </p:spPr>
      </p:pic>
      <p:sp>
        <p:nvSpPr>
          <p:cNvPr id="15" name="Text 11"/>
          <p:cNvSpPr txBox="1"/>
          <p:nvPr/>
        </p:nvSpPr>
        <p:spPr>
          <a:xfrm>
            <a:off x="1188720" y="1965960"/>
            <a:ext cx="1463040" cy="59436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Backend &amp; API</a:t>
            </a:r>
            <a:endParaRPr lang="en-US" sz="1300" dirty="0"/>
          </a:p>
        </p:txBody>
      </p:sp>
      <p:sp>
        <p:nvSpPr>
          <p:cNvPr id="16" name="Shape 12"/>
          <p:cNvSpPr/>
          <p:nvPr/>
        </p:nvSpPr>
        <p:spPr>
          <a:xfrm>
            <a:off x="2743200" y="2107692"/>
            <a:ext cx="753466" cy="310896"/>
          </a:xfrm>
          <a:prstGeom prst="roundRect">
            <a:avLst>
              <a:gd name="adj" fmla="val 23529"/>
            </a:avLst>
          </a:prstGeom>
          <a:solidFill>
            <a:srgbClr val="D6ECEE"/>
          </a:solidFill>
          <a:ln w="12700">
            <a:solidFill>
              <a:srgbClr val="D6ECEE"/>
            </a:solidFill>
            <a:prstDash val="solid"/>
          </a:ln>
        </p:spPr>
      </p:sp>
      <p:sp>
        <p:nvSpPr>
          <p:cNvPr id="17" name="Text 13"/>
          <p:cNvSpPr txBox="1"/>
          <p:nvPr/>
        </p:nvSpPr>
        <p:spPr>
          <a:xfrm>
            <a:off x="2743200" y="2107692"/>
            <a:ext cx="753466" cy="310896"/>
          </a:xfrm>
          <a:prstGeom prst="rect">
            <a:avLst/>
          </a:prstGeom>
          <a:noFill/>
          <a:ln/>
        </p:spPr>
        <p:txBody>
          <a:bodyPr wrap="square" lIns="0" tIns="0" rIns="0" bIns="0" rtlCol="0" anchor="ctr"/>
          <a:lstStyle/>
          <a:p>
            <a:pPr marL="0" indent="0" algn="ctr">
              <a:buNone/>
            </a:pPr>
            <a:r>
              <a:rPr lang="en-US" sz="1050" dirty="0">
                <a:solidFill>
                  <a:srgbClr val="1B2B34"/>
                </a:solidFill>
                <a:latin typeface="Calibri" pitchFamily="34" charset="0"/>
                <a:ea typeface="Calibri" pitchFamily="34" charset="-122"/>
                <a:cs typeface="Calibri" pitchFamily="34" charset="-120"/>
              </a:rPr>
              <a:t>Node.js</a:t>
            </a:r>
            <a:endParaRPr lang="en-US" sz="1050" dirty="0"/>
          </a:p>
        </p:txBody>
      </p:sp>
      <p:sp>
        <p:nvSpPr>
          <p:cNvPr id="18" name="Shape 14"/>
          <p:cNvSpPr/>
          <p:nvPr/>
        </p:nvSpPr>
        <p:spPr>
          <a:xfrm>
            <a:off x="3606394" y="2107692"/>
            <a:ext cx="753466" cy="310896"/>
          </a:xfrm>
          <a:prstGeom prst="roundRect">
            <a:avLst>
              <a:gd name="adj" fmla="val 23529"/>
            </a:avLst>
          </a:prstGeom>
          <a:solidFill>
            <a:srgbClr val="D6ECEE"/>
          </a:solidFill>
          <a:ln w="12700">
            <a:solidFill>
              <a:srgbClr val="D6ECEE"/>
            </a:solidFill>
            <a:prstDash val="solid"/>
          </a:ln>
        </p:spPr>
      </p:sp>
      <p:sp>
        <p:nvSpPr>
          <p:cNvPr id="19" name="Text 15"/>
          <p:cNvSpPr txBox="1"/>
          <p:nvPr/>
        </p:nvSpPr>
        <p:spPr>
          <a:xfrm>
            <a:off x="3606394" y="2107692"/>
            <a:ext cx="753466" cy="310896"/>
          </a:xfrm>
          <a:prstGeom prst="rect">
            <a:avLst/>
          </a:prstGeom>
          <a:noFill/>
          <a:ln/>
        </p:spPr>
        <p:txBody>
          <a:bodyPr wrap="square" lIns="0" tIns="0" rIns="0" bIns="0" rtlCol="0" anchor="ctr"/>
          <a:lstStyle/>
          <a:p>
            <a:pPr marL="0" indent="0" algn="ctr">
              <a:buNone/>
            </a:pPr>
            <a:r>
              <a:rPr lang="en-US" sz="1050" dirty="0">
                <a:solidFill>
                  <a:srgbClr val="1B2B34"/>
                </a:solidFill>
                <a:latin typeface="Calibri" pitchFamily="34" charset="0"/>
                <a:ea typeface="Calibri" pitchFamily="34" charset="-122"/>
                <a:cs typeface="Calibri" pitchFamily="34" charset="-120"/>
              </a:rPr>
              <a:t>Express</a:t>
            </a:r>
            <a:endParaRPr lang="en-US" sz="1050" dirty="0"/>
          </a:p>
        </p:txBody>
      </p:sp>
      <p:sp>
        <p:nvSpPr>
          <p:cNvPr id="20" name="Shape 16"/>
          <p:cNvSpPr/>
          <p:nvPr/>
        </p:nvSpPr>
        <p:spPr>
          <a:xfrm>
            <a:off x="4469587" y="2107692"/>
            <a:ext cx="1016813" cy="310896"/>
          </a:xfrm>
          <a:prstGeom prst="roundRect">
            <a:avLst>
              <a:gd name="adj" fmla="val 23529"/>
            </a:avLst>
          </a:prstGeom>
          <a:solidFill>
            <a:srgbClr val="D6ECEE"/>
          </a:solidFill>
          <a:ln w="12700">
            <a:solidFill>
              <a:srgbClr val="D6ECEE"/>
            </a:solidFill>
            <a:prstDash val="solid"/>
          </a:ln>
        </p:spPr>
      </p:sp>
      <p:sp>
        <p:nvSpPr>
          <p:cNvPr id="21" name="Text 17"/>
          <p:cNvSpPr txBox="1"/>
          <p:nvPr/>
        </p:nvSpPr>
        <p:spPr>
          <a:xfrm>
            <a:off x="4469587" y="2107692"/>
            <a:ext cx="1016813" cy="310896"/>
          </a:xfrm>
          <a:prstGeom prst="rect">
            <a:avLst/>
          </a:prstGeom>
          <a:noFill/>
          <a:ln/>
        </p:spPr>
        <p:txBody>
          <a:bodyPr wrap="square" lIns="0" tIns="0" rIns="0" bIns="0" rtlCol="0" anchor="ctr"/>
          <a:lstStyle/>
          <a:p>
            <a:pPr marL="0" indent="0" algn="ctr">
              <a:buNone/>
            </a:pPr>
            <a:r>
              <a:rPr lang="en-US" sz="1050" dirty="0">
                <a:solidFill>
                  <a:srgbClr val="1B2B34"/>
                </a:solidFill>
                <a:latin typeface="Calibri" pitchFamily="34" charset="0"/>
                <a:ea typeface="Calibri" pitchFamily="34" charset="-122"/>
                <a:cs typeface="Calibri" pitchFamily="34" charset="-120"/>
              </a:rPr>
              <a:t>HL7 FHIR R4</a:t>
            </a:r>
            <a:endParaRPr lang="en-US" sz="1050" dirty="0"/>
          </a:p>
        </p:txBody>
      </p:sp>
      <p:sp>
        <p:nvSpPr>
          <p:cNvPr id="22" name="Shape 18"/>
          <p:cNvSpPr/>
          <p:nvPr/>
        </p:nvSpPr>
        <p:spPr>
          <a:xfrm>
            <a:off x="5596128" y="2107692"/>
            <a:ext cx="1806854" cy="310896"/>
          </a:xfrm>
          <a:prstGeom prst="roundRect">
            <a:avLst>
              <a:gd name="adj" fmla="val 23529"/>
            </a:avLst>
          </a:prstGeom>
          <a:solidFill>
            <a:srgbClr val="D6ECEE"/>
          </a:solidFill>
          <a:ln w="12700">
            <a:solidFill>
              <a:srgbClr val="D6ECEE"/>
            </a:solidFill>
            <a:prstDash val="solid"/>
          </a:ln>
        </p:spPr>
      </p:sp>
      <p:sp>
        <p:nvSpPr>
          <p:cNvPr id="23" name="Text 19"/>
          <p:cNvSpPr txBox="1"/>
          <p:nvPr/>
        </p:nvSpPr>
        <p:spPr>
          <a:xfrm>
            <a:off x="5596128" y="2107692"/>
            <a:ext cx="1806854" cy="310896"/>
          </a:xfrm>
          <a:prstGeom prst="rect">
            <a:avLst/>
          </a:prstGeom>
          <a:noFill/>
          <a:ln/>
        </p:spPr>
        <p:txBody>
          <a:bodyPr wrap="square" lIns="0" tIns="0" rIns="0" bIns="0" rtlCol="0" anchor="ctr"/>
          <a:lstStyle/>
          <a:p>
            <a:pPr marL="0" indent="0" algn="ctr">
              <a:buNone/>
            </a:pPr>
            <a:r>
              <a:rPr lang="en-US" sz="1050" dirty="0">
                <a:solidFill>
                  <a:srgbClr val="1B2B34"/>
                </a:solidFill>
                <a:latin typeface="Calibri" pitchFamily="34" charset="0"/>
                <a:ea typeface="Calibri" pitchFamily="34" charset="-122"/>
                <a:cs typeface="Calibri" pitchFamily="34" charset="-120"/>
              </a:rPr>
              <a:t>SMART-on-FHIR discovery</a:t>
            </a:r>
            <a:endParaRPr lang="en-US" sz="1050" dirty="0"/>
          </a:p>
        </p:txBody>
      </p:sp>
      <p:sp>
        <p:nvSpPr>
          <p:cNvPr id="24" name="Shape 20"/>
          <p:cNvSpPr/>
          <p:nvPr/>
        </p:nvSpPr>
        <p:spPr>
          <a:xfrm>
            <a:off x="457200" y="2651760"/>
            <a:ext cx="8229600" cy="5943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5" name="Shape 21"/>
          <p:cNvSpPr/>
          <p:nvPr/>
        </p:nvSpPr>
        <p:spPr>
          <a:xfrm>
            <a:off x="640080" y="2756916"/>
            <a:ext cx="384048" cy="384048"/>
          </a:xfrm>
          <a:prstGeom prst="ellipse">
            <a:avLst/>
          </a:prstGeom>
          <a:solidFill>
            <a:srgbClr val="0E7C86"/>
          </a:solidFill>
          <a:ln w="12700">
            <a:solidFill>
              <a:srgbClr val="0E7C86"/>
            </a:solidFill>
            <a:prstDash val="solid"/>
          </a:ln>
        </p:spPr>
      </p:sp>
      <p:pic>
        <p:nvPicPr>
          <p:cNvPr id="26" name="Image 2" descr="preencoded.png"/>
          <p:cNvPicPr>
            <a:picLocks noChangeAspect="1"/>
          </p:cNvPicPr>
          <p:nvPr/>
        </p:nvPicPr>
        <p:blipFill>
          <a:blip r:embed="rId5"/>
          <a:stretch>
            <a:fillRect/>
          </a:stretch>
        </p:blipFill>
        <p:spPr>
          <a:xfrm>
            <a:off x="736092" y="2852928"/>
            <a:ext cx="192024" cy="192024"/>
          </a:xfrm>
          <a:prstGeom prst="rect">
            <a:avLst/>
          </a:prstGeom>
        </p:spPr>
      </p:pic>
      <p:sp>
        <p:nvSpPr>
          <p:cNvPr id="27" name="Text 22"/>
          <p:cNvSpPr txBox="1"/>
          <p:nvPr/>
        </p:nvSpPr>
        <p:spPr>
          <a:xfrm>
            <a:off x="1188720" y="2651760"/>
            <a:ext cx="1463040" cy="59436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Database</a:t>
            </a:r>
            <a:endParaRPr lang="en-US" sz="1300" dirty="0"/>
          </a:p>
        </p:txBody>
      </p:sp>
      <p:sp>
        <p:nvSpPr>
          <p:cNvPr id="28" name="Shape 23"/>
          <p:cNvSpPr/>
          <p:nvPr/>
        </p:nvSpPr>
        <p:spPr>
          <a:xfrm>
            <a:off x="2743200" y="2793492"/>
            <a:ext cx="753466" cy="310896"/>
          </a:xfrm>
          <a:prstGeom prst="roundRect">
            <a:avLst>
              <a:gd name="adj" fmla="val 23529"/>
            </a:avLst>
          </a:prstGeom>
          <a:solidFill>
            <a:srgbClr val="D6ECEE"/>
          </a:solidFill>
          <a:ln w="12700">
            <a:solidFill>
              <a:srgbClr val="D6ECEE"/>
            </a:solidFill>
            <a:prstDash val="solid"/>
          </a:ln>
        </p:spPr>
      </p:sp>
      <p:sp>
        <p:nvSpPr>
          <p:cNvPr id="29" name="Text 24"/>
          <p:cNvSpPr txBox="1"/>
          <p:nvPr/>
        </p:nvSpPr>
        <p:spPr>
          <a:xfrm>
            <a:off x="2743200" y="2793492"/>
            <a:ext cx="753466" cy="310896"/>
          </a:xfrm>
          <a:prstGeom prst="rect">
            <a:avLst/>
          </a:prstGeom>
          <a:noFill/>
          <a:ln/>
        </p:spPr>
        <p:txBody>
          <a:bodyPr wrap="square" lIns="0" tIns="0" rIns="0" bIns="0" rtlCol="0" anchor="ctr"/>
          <a:lstStyle/>
          <a:p>
            <a:pPr marL="0" indent="0" algn="ctr">
              <a:buNone/>
            </a:pPr>
            <a:r>
              <a:rPr lang="en-US" sz="1050" dirty="0">
                <a:solidFill>
                  <a:srgbClr val="1B2B34"/>
                </a:solidFill>
                <a:latin typeface="Calibri" pitchFamily="34" charset="0"/>
                <a:ea typeface="Calibri" pitchFamily="34" charset="-122"/>
                <a:cs typeface="Calibri" pitchFamily="34" charset="-120"/>
              </a:rPr>
              <a:t>MongoDB</a:t>
            </a:r>
            <a:endParaRPr lang="en-US" sz="1050" dirty="0"/>
          </a:p>
        </p:txBody>
      </p:sp>
      <p:sp>
        <p:nvSpPr>
          <p:cNvPr id="30" name="Shape 25"/>
          <p:cNvSpPr/>
          <p:nvPr/>
        </p:nvSpPr>
        <p:spPr>
          <a:xfrm>
            <a:off x="457200" y="3337560"/>
            <a:ext cx="8229600" cy="5943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31" name="Shape 26"/>
          <p:cNvSpPr/>
          <p:nvPr/>
        </p:nvSpPr>
        <p:spPr>
          <a:xfrm>
            <a:off x="640080" y="3442716"/>
            <a:ext cx="384048" cy="384048"/>
          </a:xfrm>
          <a:prstGeom prst="ellipse">
            <a:avLst/>
          </a:prstGeom>
          <a:solidFill>
            <a:srgbClr val="0E7C86"/>
          </a:solidFill>
          <a:ln w="12700">
            <a:solidFill>
              <a:srgbClr val="0E7C86"/>
            </a:solidFill>
            <a:prstDash val="solid"/>
          </a:ln>
        </p:spPr>
      </p:sp>
      <p:pic>
        <p:nvPicPr>
          <p:cNvPr id="32" name="Image 3" descr="preencoded.png"/>
          <p:cNvPicPr>
            <a:picLocks noChangeAspect="1"/>
          </p:cNvPicPr>
          <p:nvPr/>
        </p:nvPicPr>
        <p:blipFill>
          <a:blip r:embed="rId6"/>
          <a:stretch>
            <a:fillRect/>
          </a:stretch>
        </p:blipFill>
        <p:spPr>
          <a:xfrm>
            <a:off x="736092" y="3538728"/>
            <a:ext cx="192024" cy="192024"/>
          </a:xfrm>
          <a:prstGeom prst="rect">
            <a:avLst/>
          </a:prstGeom>
        </p:spPr>
      </p:pic>
      <p:sp>
        <p:nvSpPr>
          <p:cNvPr id="33" name="Text 27"/>
          <p:cNvSpPr txBox="1"/>
          <p:nvPr/>
        </p:nvSpPr>
        <p:spPr>
          <a:xfrm>
            <a:off x="1188720" y="3337560"/>
            <a:ext cx="1463040" cy="59436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Streaming</a:t>
            </a:r>
            <a:endParaRPr lang="en-US" sz="1300" dirty="0"/>
          </a:p>
        </p:txBody>
      </p:sp>
      <p:sp>
        <p:nvSpPr>
          <p:cNvPr id="34" name="Shape 28"/>
          <p:cNvSpPr/>
          <p:nvPr/>
        </p:nvSpPr>
        <p:spPr>
          <a:xfrm>
            <a:off x="2743200" y="3479292"/>
            <a:ext cx="1082650" cy="310896"/>
          </a:xfrm>
          <a:prstGeom prst="roundRect">
            <a:avLst>
              <a:gd name="adj" fmla="val 23529"/>
            </a:avLst>
          </a:prstGeom>
          <a:solidFill>
            <a:srgbClr val="D6ECEE"/>
          </a:solidFill>
          <a:ln w="12700">
            <a:solidFill>
              <a:srgbClr val="D6ECEE"/>
            </a:solidFill>
            <a:prstDash val="solid"/>
          </a:ln>
        </p:spPr>
      </p:sp>
      <p:sp>
        <p:nvSpPr>
          <p:cNvPr id="35" name="Text 29"/>
          <p:cNvSpPr txBox="1"/>
          <p:nvPr/>
        </p:nvSpPr>
        <p:spPr>
          <a:xfrm>
            <a:off x="2743200" y="3479292"/>
            <a:ext cx="1082650" cy="310896"/>
          </a:xfrm>
          <a:prstGeom prst="rect">
            <a:avLst/>
          </a:prstGeom>
          <a:noFill/>
          <a:ln/>
        </p:spPr>
        <p:txBody>
          <a:bodyPr wrap="square" lIns="0" tIns="0" rIns="0" bIns="0" rtlCol="0" anchor="ctr"/>
          <a:lstStyle/>
          <a:p>
            <a:pPr marL="0" indent="0" algn="ctr">
              <a:buNone/>
            </a:pPr>
            <a:r>
              <a:rPr lang="en-US" sz="1050" dirty="0">
                <a:solidFill>
                  <a:srgbClr val="1B2B34"/>
                </a:solidFill>
                <a:latin typeface="Calibri" pitchFamily="34" charset="0"/>
                <a:ea typeface="Calibri" pitchFamily="34" charset="-122"/>
                <a:cs typeface="Calibri" pitchFamily="34" charset="-120"/>
              </a:rPr>
              <a:t>Apache Kafka</a:t>
            </a:r>
            <a:endParaRPr lang="en-US" sz="1050" dirty="0"/>
          </a:p>
        </p:txBody>
      </p:sp>
      <p:sp>
        <p:nvSpPr>
          <p:cNvPr id="36" name="Shape 30"/>
          <p:cNvSpPr/>
          <p:nvPr/>
        </p:nvSpPr>
        <p:spPr>
          <a:xfrm>
            <a:off x="457200" y="4023360"/>
            <a:ext cx="8229600" cy="5943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37" name="Shape 31"/>
          <p:cNvSpPr/>
          <p:nvPr/>
        </p:nvSpPr>
        <p:spPr>
          <a:xfrm>
            <a:off x="640080" y="4128516"/>
            <a:ext cx="384048" cy="384048"/>
          </a:xfrm>
          <a:prstGeom prst="ellipse">
            <a:avLst/>
          </a:prstGeom>
          <a:solidFill>
            <a:srgbClr val="0E7C86"/>
          </a:solidFill>
          <a:ln w="12700">
            <a:solidFill>
              <a:srgbClr val="0E7C86"/>
            </a:solidFill>
            <a:prstDash val="solid"/>
          </a:ln>
        </p:spPr>
      </p:sp>
      <p:pic>
        <p:nvPicPr>
          <p:cNvPr id="38" name="Image 4" descr="preencoded.png"/>
          <p:cNvPicPr>
            <a:picLocks noChangeAspect="1"/>
          </p:cNvPicPr>
          <p:nvPr/>
        </p:nvPicPr>
        <p:blipFill>
          <a:blip r:embed="rId7"/>
          <a:stretch>
            <a:fillRect/>
          </a:stretch>
        </p:blipFill>
        <p:spPr>
          <a:xfrm>
            <a:off x="736092" y="4224528"/>
            <a:ext cx="192024" cy="192024"/>
          </a:xfrm>
          <a:prstGeom prst="rect">
            <a:avLst/>
          </a:prstGeom>
        </p:spPr>
      </p:pic>
      <p:sp>
        <p:nvSpPr>
          <p:cNvPr id="39" name="Text 32"/>
          <p:cNvSpPr txBox="1"/>
          <p:nvPr/>
        </p:nvSpPr>
        <p:spPr>
          <a:xfrm>
            <a:off x="1188720" y="4023360"/>
            <a:ext cx="1463040" cy="59436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AI</a:t>
            </a:r>
            <a:endParaRPr lang="en-US" sz="1300" dirty="0"/>
          </a:p>
        </p:txBody>
      </p:sp>
      <p:sp>
        <p:nvSpPr>
          <p:cNvPr id="40" name="Shape 33"/>
          <p:cNvSpPr/>
          <p:nvPr/>
        </p:nvSpPr>
        <p:spPr>
          <a:xfrm>
            <a:off x="2743200" y="4165092"/>
            <a:ext cx="1477670" cy="310896"/>
          </a:xfrm>
          <a:prstGeom prst="roundRect">
            <a:avLst>
              <a:gd name="adj" fmla="val 23529"/>
            </a:avLst>
          </a:prstGeom>
          <a:solidFill>
            <a:srgbClr val="D6ECEE"/>
          </a:solidFill>
          <a:ln w="12700">
            <a:solidFill>
              <a:srgbClr val="D6ECEE"/>
            </a:solidFill>
            <a:prstDash val="solid"/>
          </a:ln>
        </p:spPr>
      </p:sp>
      <p:sp>
        <p:nvSpPr>
          <p:cNvPr id="41" name="Text 34"/>
          <p:cNvSpPr txBox="1"/>
          <p:nvPr/>
        </p:nvSpPr>
        <p:spPr>
          <a:xfrm>
            <a:off x="2743200" y="4165092"/>
            <a:ext cx="1477670" cy="310896"/>
          </a:xfrm>
          <a:prstGeom prst="rect">
            <a:avLst/>
          </a:prstGeom>
          <a:noFill/>
          <a:ln/>
        </p:spPr>
        <p:txBody>
          <a:bodyPr wrap="square" lIns="0" tIns="0" rIns="0" bIns="0" rtlCol="0" anchor="ctr"/>
          <a:lstStyle/>
          <a:p>
            <a:pPr marL="0" indent="0" algn="ctr">
              <a:buNone/>
            </a:pPr>
            <a:r>
              <a:rPr lang="en-US" sz="1050" dirty="0">
                <a:solidFill>
                  <a:srgbClr val="1B2B34"/>
                </a:solidFill>
                <a:latin typeface="Calibri" pitchFamily="34" charset="0"/>
                <a:ea typeface="Calibri" pitchFamily="34" charset="-122"/>
                <a:cs typeface="Calibri" pitchFamily="34" charset="-120"/>
              </a:rPr>
              <a:t>Federated Learning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HOW IT FITS TOGETHER</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1B2B34"/>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457200" y="1234440"/>
            <a:ext cx="502920" cy="713232"/>
          </a:xfrm>
          <a:prstGeom prst="roundRect">
            <a:avLst>
              <a:gd name="adj" fmla="val 14545"/>
            </a:avLst>
          </a:prstGeom>
          <a:solidFill>
            <a:srgbClr val="0E7C86"/>
          </a:solidFill>
          <a:ln w="12700">
            <a:solidFill>
              <a:srgbClr val="0E7C86"/>
            </a:solidFill>
            <a:prstDash val="solid"/>
          </a:ln>
        </p:spPr>
      </p:sp>
      <p:sp>
        <p:nvSpPr>
          <p:cNvPr id="5" name="Text 3"/>
          <p:cNvSpPr txBox="1"/>
          <p:nvPr/>
        </p:nvSpPr>
        <p:spPr>
          <a:xfrm>
            <a:off x="457200" y="1234440"/>
            <a:ext cx="5029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M1</a:t>
            </a:r>
            <a:endParaRPr lang="en-US" sz="1400" dirty="0"/>
          </a:p>
        </p:txBody>
      </p:sp>
      <p:sp>
        <p:nvSpPr>
          <p:cNvPr id="6" name="Shape 4"/>
          <p:cNvSpPr/>
          <p:nvPr/>
        </p:nvSpPr>
        <p:spPr>
          <a:xfrm>
            <a:off x="1097280" y="1234440"/>
            <a:ext cx="1371600" cy="713232"/>
          </a:xfrm>
          <a:prstGeom prst="rect">
            <a:avLst/>
          </a:prstGeom>
          <a:solidFill>
            <a:srgbClr val="D6ECEE"/>
          </a:solidFill>
          <a:ln w="12700">
            <a:solidFill>
              <a:srgbClr val="D6ECEE"/>
            </a:solidFill>
            <a:prstDash val="solid"/>
          </a:ln>
        </p:spPr>
      </p:sp>
      <p:sp>
        <p:nvSpPr>
          <p:cNvPr id="7" name="Text 5"/>
          <p:cNvSpPr txBox="1"/>
          <p:nvPr/>
        </p:nvSpPr>
        <p:spPr>
          <a:xfrm>
            <a:off x="1188720" y="123444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Wearable + lab data</a:t>
            </a:r>
            <a:endParaRPr lang="en-US" sz="1100" dirty="0"/>
          </a:p>
        </p:txBody>
      </p:sp>
      <p:sp>
        <p:nvSpPr>
          <p:cNvPr id="8" name="Shape 6"/>
          <p:cNvSpPr/>
          <p:nvPr/>
        </p:nvSpPr>
        <p:spPr>
          <a:xfrm>
            <a:off x="2468880" y="1591056"/>
            <a:ext cx="182880" cy="0"/>
          </a:xfrm>
          <a:prstGeom prst="line">
            <a:avLst/>
          </a:prstGeom>
          <a:noFill/>
          <a:ln w="19050">
            <a:solidFill>
              <a:srgbClr val="0E7C86"/>
            </a:solidFill>
            <a:prstDash val="solid"/>
            <a:tailEnd type="triangle"/>
          </a:ln>
        </p:spPr>
      </p:sp>
      <p:sp>
        <p:nvSpPr>
          <p:cNvPr id="9" name="Shape 7"/>
          <p:cNvSpPr/>
          <p:nvPr/>
        </p:nvSpPr>
        <p:spPr>
          <a:xfrm>
            <a:off x="2651760" y="1234440"/>
            <a:ext cx="1371600" cy="713232"/>
          </a:xfrm>
          <a:prstGeom prst="rect">
            <a:avLst/>
          </a:prstGeom>
          <a:solidFill>
            <a:srgbClr val="D6ECEE"/>
          </a:solidFill>
          <a:ln w="12700">
            <a:solidFill>
              <a:srgbClr val="D6ECEE"/>
            </a:solidFill>
            <a:prstDash val="solid"/>
          </a:ln>
        </p:spPr>
      </p:sp>
      <p:sp>
        <p:nvSpPr>
          <p:cNvPr id="10" name="Text 8"/>
          <p:cNvSpPr txBox="1"/>
          <p:nvPr/>
        </p:nvSpPr>
        <p:spPr>
          <a:xfrm>
            <a:off x="2743200" y="123444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FHIR R4 API</a:t>
            </a:r>
            <a:endParaRPr lang="en-US" sz="1100" dirty="0"/>
          </a:p>
        </p:txBody>
      </p:sp>
      <p:sp>
        <p:nvSpPr>
          <p:cNvPr id="11" name="Shape 9"/>
          <p:cNvSpPr/>
          <p:nvPr/>
        </p:nvSpPr>
        <p:spPr>
          <a:xfrm>
            <a:off x="4023360" y="1591056"/>
            <a:ext cx="182880" cy="0"/>
          </a:xfrm>
          <a:prstGeom prst="line">
            <a:avLst/>
          </a:prstGeom>
          <a:noFill/>
          <a:ln w="19050">
            <a:solidFill>
              <a:srgbClr val="0E7C86"/>
            </a:solidFill>
            <a:prstDash val="solid"/>
            <a:tailEnd type="triangle"/>
          </a:ln>
        </p:spPr>
      </p:sp>
      <p:sp>
        <p:nvSpPr>
          <p:cNvPr id="12" name="Shape 10"/>
          <p:cNvSpPr/>
          <p:nvPr/>
        </p:nvSpPr>
        <p:spPr>
          <a:xfrm>
            <a:off x="4206240" y="1234440"/>
            <a:ext cx="1371600" cy="713232"/>
          </a:xfrm>
          <a:prstGeom prst="rect">
            <a:avLst/>
          </a:prstGeom>
          <a:solidFill>
            <a:srgbClr val="D6ECEE"/>
          </a:solidFill>
          <a:ln w="12700">
            <a:solidFill>
              <a:srgbClr val="D6ECEE"/>
            </a:solidFill>
            <a:prstDash val="solid"/>
          </a:ln>
        </p:spPr>
      </p:sp>
      <p:sp>
        <p:nvSpPr>
          <p:cNvPr id="13" name="Text 11"/>
          <p:cNvSpPr txBox="1"/>
          <p:nvPr/>
        </p:nvSpPr>
        <p:spPr>
          <a:xfrm>
            <a:off x="4297680" y="123444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Kafka</a:t>
            </a:r>
            <a:endParaRPr lang="en-US" sz="1100" dirty="0"/>
          </a:p>
        </p:txBody>
      </p:sp>
      <p:sp>
        <p:nvSpPr>
          <p:cNvPr id="14" name="Shape 12"/>
          <p:cNvSpPr/>
          <p:nvPr/>
        </p:nvSpPr>
        <p:spPr>
          <a:xfrm>
            <a:off x="5577840" y="1591056"/>
            <a:ext cx="182880" cy="0"/>
          </a:xfrm>
          <a:prstGeom prst="line">
            <a:avLst/>
          </a:prstGeom>
          <a:noFill/>
          <a:ln w="19050">
            <a:solidFill>
              <a:srgbClr val="0E7C86"/>
            </a:solidFill>
            <a:prstDash val="solid"/>
            <a:tailEnd type="triangle"/>
          </a:ln>
        </p:spPr>
      </p:sp>
      <p:sp>
        <p:nvSpPr>
          <p:cNvPr id="15" name="Shape 13"/>
          <p:cNvSpPr/>
          <p:nvPr/>
        </p:nvSpPr>
        <p:spPr>
          <a:xfrm>
            <a:off x="5760720" y="1234440"/>
            <a:ext cx="1371600" cy="713232"/>
          </a:xfrm>
          <a:prstGeom prst="rect">
            <a:avLst/>
          </a:prstGeom>
          <a:solidFill>
            <a:srgbClr val="D6ECEE"/>
          </a:solidFill>
          <a:ln w="12700">
            <a:solidFill>
              <a:srgbClr val="D6ECEE"/>
            </a:solidFill>
            <a:prstDash val="solid"/>
          </a:ln>
        </p:spPr>
      </p:sp>
      <p:sp>
        <p:nvSpPr>
          <p:cNvPr id="16" name="Text 14"/>
          <p:cNvSpPr txBox="1"/>
          <p:nvPr/>
        </p:nvSpPr>
        <p:spPr>
          <a:xfrm>
            <a:off x="5852160" y="123444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MongoDB</a:t>
            </a:r>
            <a:endParaRPr lang="en-US" sz="1100" dirty="0"/>
          </a:p>
        </p:txBody>
      </p:sp>
      <p:sp>
        <p:nvSpPr>
          <p:cNvPr id="17" name="Shape 15"/>
          <p:cNvSpPr/>
          <p:nvPr/>
        </p:nvSpPr>
        <p:spPr>
          <a:xfrm>
            <a:off x="7132320" y="1591056"/>
            <a:ext cx="182880" cy="0"/>
          </a:xfrm>
          <a:prstGeom prst="line">
            <a:avLst/>
          </a:prstGeom>
          <a:noFill/>
          <a:ln w="19050">
            <a:solidFill>
              <a:srgbClr val="0E7C86"/>
            </a:solidFill>
            <a:prstDash val="solid"/>
            <a:tailEnd type="triangle"/>
          </a:ln>
        </p:spPr>
      </p:sp>
      <p:sp>
        <p:nvSpPr>
          <p:cNvPr id="18" name="Shape 16"/>
          <p:cNvSpPr/>
          <p:nvPr/>
        </p:nvSpPr>
        <p:spPr>
          <a:xfrm>
            <a:off x="7315200" y="1234440"/>
            <a:ext cx="1371600" cy="713232"/>
          </a:xfrm>
          <a:prstGeom prst="rect">
            <a:avLst/>
          </a:prstGeom>
          <a:solidFill>
            <a:srgbClr val="D6ECEE"/>
          </a:solidFill>
          <a:ln w="12700">
            <a:solidFill>
              <a:srgbClr val="D6ECEE"/>
            </a:solidFill>
            <a:prstDash val="solid"/>
          </a:ln>
        </p:spPr>
      </p:sp>
      <p:sp>
        <p:nvSpPr>
          <p:cNvPr id="19" name="Text 17"/>
          <p:cNvSpPr txBox="1"/>
          <p:nvPr/>
        </p:nvSpPr>
        <p:spPr>
          <a:xfrm>
            <a:off x="7406640" y="123444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Patient 360</a:t>
            </a:r>
            <a:endParaRPr lang="en-US" sz="1100" dirty="0"/>
          </a:p>
        </p:txBody>
      </p:sp>
      <p:sp>
        <p:nvSpPr>
          <p:cNvPr id="20" name="Shape 18"/>
          <p:cNvSpPr/>
          <p:nvPr/>
        </p:nvSpPr>
        <p:spPr>
          <a:xfrm>
            <a:off x="457200" y="2103120"/>
            <a:ext cx="502920" cy="713232"/>
          </a:xfrm>
          <a:prstGeom prst="roundRect">
            <a:avLst>
              <a:gd name="adj" fmla="val 14545"/>
            </a:avLst>
          </a:prstGeom>
          <a:solidFill>
            <a:srgbClr val="C9861A"/>
          </a:solidFill>
          <a:ln w="12700">
            <a:solidFill>
              <a:srgbClr val="C9861A"/>
            </a:solidFill>
            <a:prstDash val="solid"/>
          </a:ln>
        </p:spPr>
      </p:sp>
      <p:sp>
        <p:nvSpPr>
          <p:cNvPr id="21" name="Text 19"/>
          <p:cNvSpPr txBox="1"/>
          <p:nvPr/>
        </p:nvSpPr>
        <p:spPr>
          <a:xfrm>
            <a:off x="457200" y="2103120"/>
            <a:ext cx="5029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M2</a:t>
            </a:r>
            <a:endParaRPr lang="en-US" sz="1400" dirty="0"/>
          </a:p>
        </p:txBody>
      </p:sp>
      <p:sp>
        <p:nvSpPr>
          <p:cNvPr id="22" name="Shape 20"/>
          <p:cNvSpPr/>
          <p:nvPr/>
        </p:nvSpPr>
        <p:spPr>
          <a:xfrm>
            <a:off x="1097280" y="2103120"/>
            <a:ext cx="1371600" cy="713232"/>
          </a:xfrm>
          <a:prstGeom prst="rect">
            <a:avLst/>
          </a:prstGeom>
          <a:solidFill>
            <a:srgbClr val="FBEBCB"/>
          </a:solidFill>
          <a:ln w="12700">
            <a:solidFill>
              <a:srgbClr val="FBEBCB"/>
            </a:solidFill>
            <a:prstDash val="solid"/>
          </a:ln>
        </p:spPr>
      </p:sp>
      <p:sp>
        <p:nvSpPr>
          <p:cNvPr id="23" name="Text 21"/>
          <p:cNvSpPr txBox="1"/>
          <p:nvPr/>
        </p:nvSpPr>
        <p:spPr>
          <a:xfrm>
            <a:off x="1188720" y="210312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TensorFlow Federated setup</a:t>
            </a:r>
            <a:endParaRPr lang="en-US" sz="1100" dirty="0"/>
          </a:p>
        </p:txBody>
      </p:sp>
      <p:sp>
        <p:nvSpPr>
          <p:cNvPr id="24" name="Shape 22"/>
          <p:cNvSpPr/>
          <p:nvPr/>
        </p:nvSpPr>
        <p:spPr>
          <a:xfrm>
            <a:off x="2468880" y="2459736"/>
            <a:ext cx="182880" cy="0"/>
          </a:xfrm>
          <a:prstGeom prst="line">
            <a:avLst/>
          </a:prstGeom>
          <a:noFill/>
          <a:ln w="19050">
            <a:solidFill>
              <a:srgbClr val="C9861A"/>
            </a:solidFill>
            <a:prstDash val="solid"/>
            <a:tailEnd type="triangle"/>
          </a:ln>
        </p:spPr>
      </p:sp>
      <p:sp>
        <p:nvSpPr>
          <p:cNvPr id="25" name="Shape 23"/>
          <p:cNvSpPr/>
          <p:nvPr/>
        </p:nvSpPr>
        <p:spPr>
          <a:xfrm>
            <a:off x="2651760" y="2103120"/>
            <a:ext cx="1371600" cy="713232"/>
          </a:xfrm>
          <a:prstGeom prst="rect">
            <a:avLst/>
          </a:prstGeom>
          <a:solidFill>
            <a:srgbClr val="FBEBCB"/>
          </a:solidFill>
          <a:ln w="12700">
            <a:solidFill>
              <a:srgbClr val="FBEBCB"/>
            </a:solidFill>
            <a:prstDash val="solid"/>
          </a:ln>
        </p:spPr>
      </p:sp>
      <p:sp>
        <p:nvSpPr>
          <p:cNvPr id="26" name="Text 24"/>
          <p:cNvSpPr txBox="1"/>
          <p:nvPr/>
        </p:nvSpPr>
        <p:spPr>
          <a:xfrm>
            <a:off x="2743200" y="210312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CVD risk prediction model</a:t>
            </a:r>
            <a:endParaRPr lang="en-US" sz="1100" dirty="0"/>
          </a:p>
        </p:txBody>
      </p:sp>
      <p:sp>
        <p:nvSpPr>
          <p:cNvPr id="27" name="Shape 25"/>
          <p:cNvSpPr/>
          <p:nvPr/>
        </p:nvSpPr>
        <p:spPr>
          <a:xfrm>
            <a:off x="4023360" y="2459736"/>
            <a:ext cx="182880" cy="0"/>
          </a:xfrm>
          <a:prstGeom prst="line">
            <a:avLst/>
          </a:prstGeom>
          <a:noFill/>
          <a:ln w="19050">
            <a:solidFill>
              <a:srgbClr val="C9861A"/>
            </a:solidFill>
            <a:prstDash val="solid"/>
            <a:tailEnd type="triangle"/>
          </a:ln>
        </p:spPr>
      </p:sp>
      <p:sp>
        <p:nvSpPr>
          <p:cNvPr id="28" name="Shape 26"/>
          <p:cNvSpPr/>
          <p:nvPr/>
        </p:nvSpPr>
        <p:spPr>
          <a:xfrm>
            <a:off x="4206240" y="2103120"/>
            <a:ext cx="1371600" cy="713232"/>
          </a:xfrm>
          <a:prstGeom prst="rect">
            <a:avLst/>
          </a:prstGeom>
          <a:solidFill>
            <a:srgbClr val="FBEBCB"/>
          </a:solidFill>
          <a:ln w="12700">
            <a:solidFill>
              <a:srgbClr val="FBEBCB"/>
            </a:solidFill>
            <a:prstDash val="solid"/>
          </a:ln>
        </p:spPr>
      </p:sp>
      <p:sp>
        <p:nvSpPr>
          <p:cNvPr id="29" name="Text 27"/>
          <p:cNvSpPr txBox="1"/>
          <p:nvPr/>
        </p:nvSpPr>
        <p:spPr>
          <a:xfrm>
            <a:off x="4297680" y="210312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Diabetes complication model</a:t>
            </a:r>
            <a:endParaRPr lang="en-US" sz="1100" dirty="0"/>
          </a:p>
        </p:txBody>
      </p:sp>
      <p:sp>
        <p:nvSpPr>
          <p:cNvPr id="30" name="Shape 28"/>
          <p:cNvSpPr/>
          <p:nvPr/>
        </p:nvSpPr>
        <p:spPr>
          <a:xfrm>
            <a:off x="5577840" y="2459736"/>
            <a:ext cx="182880" cy="0"/>
          </a:xfrm>
          <a:prstGeom prst="line">
            <a:avLst/>
          </a:prstGeom>
          <a:noFill/>
          <a:ln w="19050">
            <a:solidFill>
              <a:srgbClr val="C9861A"/>
            </a:solidFill>
            <a:prstDash val="solid"/>
            <a:tailEnd type="triangle"/>
          </a:ln>
        </p:spPr>
      </p:sp>
      <p:sp>
        <p:nvSpPr>
          <p:cNvPr id="31" name="Shape 29"/>
          <p:cNvSpPr/>
          <p:nvPr/>
        </p:nvSpPr>
        <p:spPr>
          <a:xfrm>
            <a:off x="5760720" y="2103120"/>
            <a:ext cx="1371600" cy="713232"/>
          </a:xfrm>
          <a:prstGeom prst="rect">
            <a:avLst/>
          </a:prstGeom>
          <a:solidFill>
            <a:srgbClr val="FBEBCB"/>
          </a:solidFill>
          <a:ln w="12700">
            <a:solidFill>
              <a:srgbClr val="FBEBCB"/>
            </a:solidFill>
            <a:prstDash val="solid"/>
          </a:ln>
        </p:spPr>
      </p:sp>
      <p:sp>
        <p:nvSpPr>
          <p:cNvPr id="32" name="Text 30"/>
          <p:cNvSpPr txBox="1"/>
          <p:nvPr/>
        </p:nvSpPr>
        <p:spPr>
          <a:xfrm>
            <a:off x="5852160" y="210312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SHAP explainability</a:t>
            </a:r>
            <a:endParaRPr lang="en-US" sz="1100" dirty="0"/>
          </a:p>
        </p:txBody>
      </p:sp>
      <p:sp>
        <p:nvSpPr>
          <p:cNvPr id="33" name="Shape 31"/>
          <p:cNvSpPr/>
          <p:nvPr/>
        </p:nvSpPr>
        <p:spPr>
          <a:xfrm>
            <a:off x="7132320" y="2459736"/>
            <a:ext cx="182880" cy="0"/>
          </a:xfrm>
          <a:prstGeom prst="line">
            <a:avLst/>
          </a:prstGeom>
          <a:noFill/>
          <a:ln w="19050">
            <a:solidFill>
              <a:srgbClr val="C9861A"/>
            </a:solidFill>
            <a:prstDash val="solid"/>
            <a:tailEnd type="triangle"/>
          </a:ln>
        </p:spPr>
      </p:sp>
      <p:sp>
        <p:nvSpPr>
          <p:cNvPr id="34" name="Shape 32"/>
          <p:cNvSpPr/>
          <p:nvPr/>
        </p:nvSpPr>
        <p:spPr>
          <a:xfrm>
            <a:off x="7315200" y="2103120"/>
            <a:ext cx="1371600" cy="713232"/>
          </a:xfrm>
          <a:prstGeom prst="rect">
            <a:avLst/>
          </a:prstGeom>
          <a:solidFill>
            <a:srgbClr val="FBEBCB"/>
          </a:solidFill>
          <a:ln w="12700">
            <a:solidFill>
              <a:srgbClr val="FBEBCB"/>
            </a:solidFill>
            <a:prstDash val="solid"/>
          </a:ln>
        </p:spPr>
      </p:sp>
      <p:sp>
        <p:nvSpPr>
          <p:cNvPr id="35" name="Text 33"/>
          <p:cNvSpPr txBox="1"/>
          <p:nvPr/>
        </p:nvSpPr>
        <p:spPr>
          <a:xfrm>
            <a:off x="7406640" y="210312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Model versioning</a:t>
            </a:r>
            <a:endParaRPr lang="en-US" sz="1100" dirty="0"/>
          </a:p>
        </p:txBody>
      </p:sp>
      <p:sp>
        <p:nvSpPr>
          <p:cNvPr id="36" name="Shape 34"/>
          <p:cNvSpPr/>
          <p:nvPr/>
        </p:nvSpPr>
        <p:spPr>
          <a:xfrm>
            <a:off x="457200" y="2971800"/>
            <a:ext cx="502920" cy="713232"/>
          </a:xfrm>
          <a:prstGeom prst="roundRect">
            <a:avLst>
              <a:gd name="adj" fmla="val 14545"/>
            </a:avLst>
          </a:prstGeom>
          <a:solidFill>
            <a:srgbClr val="E4572E"/>
          </a:solidFill>
          <a:ln w="12700">
            <a:solidFill>
              <a:srgbClr val="E4572E"/>
            </a:solidFill>
            <a:prstDash val="solid"/>
          </a:ln>
        </p:spPr>
      </p:sp>
      <p:sp>
        <p:nvSpPr>
          <p:cNvPr id="37" name="Text 35"/>
          <p:cNvSpPr txBox="1"/>
          <p:nvPr/>
        </p:nvSpPr>
        <p:spPr>
          <a:xfrm>
            <a:off x="457200" y="2971800"/>
            <a:ext cx="5029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M3</a:t>
            </a:r>
            <a:endParaRPr lang="en-US" sz="1400" dirty="0"/>
          </a:p>
        </p:txBody>
      </p:sp>
      <p:sp>
        <p:nvSpPr>
          <p:cNvPr id="38" name="Shape 36"/>
          <p:cNvSpPr/>
          <p:nvPr/>
        </p:nvSpPr>
        <p:spPr>
          <a:xfrm>
            <a:off x="1097280" y="2971800"/>
            <a:ext cx="1371600" cy="713232"/>
          </a:xfrm>
          <a:prstGeom prst="rect">
            <a:avLst/>
          </a:prstGeom>
          <a:solidFill>
            <a:srgbClr val="FADAD0"/>
          </a:solidFill>
          <a:ln w="12700">
            <a:solidFill>
              <a:srgbClr val="FADAD0"/>
            </a:solidFill>
            <a:prstDash val="solid"/>
          </a:ln>
        </p:spPr>
      </p:sp>
      <p:sp>
        <p:nvSpPr>
          <p:cNvPr id="39" name="Text 37"/>
          <p:cNvSpPr txBox="1"/>
          <p:nvPr/>
        </p:nvSpPr>
        <p:spPr>
          <a:xfrm>
            <a:off x="1188720" y="297180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Wearable device integration</a:t>
            </a:r>
            <a:endParaRPr lang="en-US" sz="1100" dirty="0"/>
          </a:p>
        </p:txBody>
      </p:sp>
      <p:sp>
        <p:nvSpPr>
          <p:cNvPr id="40" name="Shape 38"/>
          <p:cNvSpPr/>
          <p:nvPr/>
        </p:nvSpPr>
        <p:spPr>
          <a:xfrm>
            <a:off x="2468880" y="3328416"/>
            <a:ext cx="182880" cy="0"/>
          </a:xfrm>
          <a:prstGeom prst="line">
            <a:avLst/>
          </a:prstGeom>
          <a:noFill/>
          <a:ln w="19050">
            <a:solidFill>
              <a:srgbClr val="E4572E"/>
            </a:solidFill>
            <a:prstDash val="solid"/>
            <a:tailEnd type="triangle"/>
          </a:ln>
        </p:spPr>
      </p:sp>
      <p:sp>
        <p:nvSpPr>
          <p:cNvPr id="41" name="Shape 39"/>
          <p:cNvSpPr/>
          <p:nvPr/>
        </p:nvSpPr>
        <p:spPr>
          <a:xfrm>
            <a:off x="2651760" y="2971800"/>
            <a:ext cx="1371600" cy="713232"/>
          </a:xfrm>
          <a:prstGeom prst="rect">
            <a:avLst/>
          </a:prstGeom>
          <a:solidFill>
            <a:srgbClr val="FADAD0"/>
          </a:solidFill>
          <a:ln w="12700">
            <a:solidFill>
              <a:srgbClr val="FADAD0"/>
            </a:solidFill>
            <a:prstDash val="solid"/>
          </a:ln>
        </p:spPr>
      </p:sp>
      <p:sp>
        <p:nvSpPr>
          <p:cNvPr id="42" name="Text 40"/>
          <p:cNvSpPr txBox="1"/>
          <p:nvPr/>
        </p:nvSpPr>
        <p:spPr>
          <a:xfrm>
            <a:off x="2743200" y="297180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Kafka streams anomaly detection</a:t>
            </a:r>
            <a:endParaRPr lang="en-US" sz="1100" dirty="0"/>
          </a:p>
        </p:txBody>
      </p:sp>
      <p:sp>
        <p:nvSpPr>
          <p:cNvPr id="43" name="Shape 41"/>
          <p:cNvSpPr/>
          <p:nvPr/>
        </p:nvSpPr>
        <p:spPr>
          <a:xfrm>
            <a:off x="4023360" y="3328416"/>
            <a:ext cx="182880" cy="0"/>
          </a:xfrm>
          <a:prstGeom prst="line">
            <a:avLst/>
          </a:prstGeom>
          <a:noFill/>
          <a:ln w="19050">
            <a:solidFill>
              <a:srgbClr val="E4572E"/>
            </a:solidFill>
            <a:prstDash val="solid"/>
            <a:tailEnd type="triangle"/>
          </a:ln>
        </p:spPr>
      </p:sp>
      <p:sp>
        <p:nvSpPr>
          <p:cNvPr id="44" name="Shape 42"/>
          <p:cNvSpPr/>
          <p:nvPr/>
        </p:nvSpPr>
        <p:spPr>
          <a:xfrm>
            <a:off x="4206240" y="2971800"/>
            <a:ext cx="1371600" cy="713232"/>
          </a:xfrm>
          <a:prstGeom prst="rect">
            <a:avLst/>
          </a:prstGeom>
          <a:solidFill>
            <a:srgbClr val="FADAD0"/>
          </a:solidFill>
          <a:ln w="12700">
            <a:solidFill>
              <a:srgbClr val="FADAD0"/>
            </a:solidFill>
            <a:prstDash val="solid"/>
          </a:ln>
        </p:spPr>
      </p:sp>
      <p:sp>
        <p:nvSpPr>
          <p:cNvPr id="45" name="Text 43"/>
          <p:cNvSpPr txBox="1"/>
          <p:nvPr/>
        </p:nvSpPr>
        <p:spPr>
          <a:xfrm>
            <a:off x="4297680" y="297180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Real-time alert engine</a:t>
            </a:r>
            <a:endParaRPr lang="en-US" sz="1100" dirty="0"/>
          </a:p>
        </p:txBody>
      </p:sp>
      <p:sp>
        <p:nvSpPr>
          <p:cNvPr id="46" name="Shape 44"/>
          <p:cNvSpPr/>
          <p:nvPr/>
        </p:nvSpPr>
        <p:spPr>
          <a:xfrm>
            <a:off x="5577840" y="3328416"/>
            <a:ext cx="182880" cy="0"/>
          </a:xfrm>
          <a:prstGeom prst="line">
            <a:avLst/>
          </a:prstGeom>
          <a:noFill/>
          <a:ln w="19050">
            <a:solidFill>
              <a:srgbClr val="E4572E"/>
            </a:solidFill>
            <a:prstDash val="solid"/>
            <a:tailEnd type="triangle"/>
          </a:ln>
        </p:spPr>
      </p:sp>
      <p:sp>
        <p:nvSpPr>
          <p:cNvPr id="47" name="Shape 45"/>
          <p:cNvSpPr/>
          <p:nvPr/>
        </p:nvSpPr>
        <p:spPr>
          <a:xfrm>
            <a:off x="5760720" y="2971800"/>
            <a:ext cx="1371600" cy="713232"/>
          </a:xfrm>
          <a:prstGeom prst="rect">
            <a:avLst/>
          </a:prstGeom>
          <a:solidFill>
            <a:srgbClr val="FADAD0"/>
          </a:solidFill>
          <a:ln w="12700">
            <a:solidFill>
              <a:srgbClr val="FADAD0"/>
            </a:solidFill>
            <a:prstDash val="solid"/>
          </a:ln>
        </p:spPr>
      </p:sp>
      <p:sp>
        <p:nvSpPr>
          <p:cNvPr id="48" name="Text 46"/>
          <p:cNvSpPr txBox="1"/>
          <p:nvPr/>
        </p:nvSpPr>
        <p:spPr>
          <a:xfrm>
            <a:off x="5852160" y="297180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Clinical rule engine</a:t>
            </a:r>
            <a:endParaRPr lang="en-US" sz="1100" dirty="0"/>
          </a:p>
        </p:txBody>
      </p:sp>
      <p:sp>
        <p:nvSpPr>
          <p:cNvPr id="49" name="Shape 47"/>
          <p:cNvSpPr/>
          <p:nvPr/>
        </p:nvSpPr>
        <p:spPr>
          <a:xfrm>
            <a:off x="7132320" y="3328416"/>
            <a:ext cx="182880" cy="0"/>
          </a:xfrm>
          <a:prstGeom prst="line">
            <a:avLst/>
          </a:prstGeom>
          <a:noFill/>
          <a:ln w="19050">
            <a:solidFill>
              <a:srgbClr val="E4572E"/>
            </a:solidFill>
            <a:prstDash val="solid"/>
            <a:tailEnd type="triangle"/>
          </a:ln>
        </p:spPr>
      </p:sp>
      <p:sp>
        <p:nvSpPr>
          <p:cNvPr id="50" name="Shape 48"/>
          <p:cNvSpPr/>
          <p:nvPr/>
        </p:nvSpPr>
        <p:spPr>
          <a:xfrm>
            <a:off x="7315200" y="2971800"/>
            <a:ext cx="1371600" cy="713232"/>
          </a:xfrm>
          <a:prstGeom prst="rect">
            <a:avLst/>
          </a:prstGeom>
          <a:solidFill>
            <a:srgbClr val="FADAD0"/>
          </a:solidFill>
          <a:ln w="12700">
            <a:solidFill>
              <a:srgbClr val="FADAD0"/>
            </a:solidFill>
            <a:prstDash val="solid"/>
          </a:ln>
        </p:spPr>
      </p:sp>
      <p:sp>
        <p:nvSpPr>
          <p:cNvPr id="51" name="Text 49"/>
          <p:cNvSpPr txBox="1"/>
          <p:nvPr/>
        </p:nvSpPr>
        <p:spPr>
          <a:xfrm>
            <a:off x="7406640" y="297180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Mobile notifications</a:t>
            </a:r>
            <a:endParaRPr lang="en-US" sz="1100" dirty="0"/>
          </a:p>
        </p:txBody>
      </p:sp>
      <p:sp>
        <p:nvSpPr>
          <p:cNvPr id="52" name="Shape 50"/>
          <p:cNvSpPr/>
          <p:nvPr/>
        </p:nvSpPr>
        <p:spPr>
          <a:xfrm>
            <a:off x="457200" y="3840480"/>
            <a:ext cx="502920" cy="713232"/>
          </a:xfrm>
          <a:prstGeom prst="roundRect">
            <a:avLst>
              <a:gd name="adj" fmla="val 14545"/>
            </a:avLst>
          </a:prstGeom>
          <a:solidFill>
            <a:srgbClr val="0E7C86"/>
          </a:solidFill>
          <a:ln w="12700">
            <a:solidFill>
              <a:srgbClr val="0E7C86"/>
            </a:solidFill>
            <a:prstDash val="solid"/>
          </a:ln>
        </p:spPr>
      </p:sp>
      <p:sp>
        <p:nvSpPr>
          <p:cNvPr id="53" name="Text 51"/>
          <p:cNvSpPr txBox="1"/>
          <p:nvPr/>
        </p:nvSpPr>
        <p:spPr>
          <a:xfrm>
            <a:off x="457200" y="3840480"/>
            <a:ext cx="5029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M4</a:t>
            </a:r>
            <a:endParaRPr lang="en-US" sz="1400" dirty="0"/>
          </a:p>
        </p:txBody>
      </p:sp>
      <p:sp>
        <p:nvSpPr>
          <p:cNvPr id="54" name="Shape 52"/>
          <p:cNvSpPr/>
          <p:nvPr/>
        </p:nvSpPr>
        <p:spPr>
          <a:xfrm>
            <a:off x="1097280" y="3840480"/>
            <a:ext cx="1371600" cy="713232"/>
          </a:xfrm>
          <a:prstGeom prst="rect">
            <a:avLst/>
          </a:prstGeom>
          <a:solidFill>
            <a:srgbClr val="D6ECEE"/>
          </a:solidFill>
          <a:ln w="12700">
            <a:solidFill>
              <a:srgbClr val="D6ECEE"/>
            </a:solidFill>
            <a:prstDash val="solid"/>
          </a:ln>
        </p:spPr>
      </p:sp>
      <p:sp>
        <p:nvSpPr>
          <p:cNvPr id="55" name="Text 53"/>
          <p:cNvSpPr txBox="1"/>
          <p:nvPr/>
        </p:nvSpPr>
        <p:spPr>
          <a:xfrm>
            <a:off x="1188720" y="384048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AI careplan generator</a:t>
            </a:r>
            <a:endParaRPr lang="en-US" sz="1100" dirty="0"/>
          </a:p>
        </p:txBody>
      </p:sp>
      <p:sp>
        <p:nvSpPr>
          <p:cNvPr id="56" name="Shape 54"/>
          <p:cNvSpPr/>
          <p:nvPr/>
        </p:nvSpPr>
        <p:spPr>
          <a:xfrm>
            <a:off x="2468880" y="4197096"/>
            <a:ext cx="182880" cy="0"/>
          </a:xfrm>
          <a:prstGeom prst="line">
            <a:avLst/>
          </a:prstGeom>
          <a:noFill/>
          <a:ln w="19050">
            <a:solidFill>
              <a:srgbClr val="0E7C86"/>
            </a:solidFill>
            <a:prstDash val="solid"/>
            <a:tailEnd type="triangle"/>
          </a:ln>
        </p:spPr>
      </p:sp>
      <p:sp>
        <p:nvSpPr>
          <p:cNvPr id="57" name="Shape 55"/>
          <p:cNvSpPr/>
          <p:nvPr/>
        </p:nvSpPr>
        <p:spPr>
          <a:xfrm>
            <a:off x="2651760" y="3840480"/>
            <a:ext cx="1371600" cy="713232"/>
          </a:xfrm>
          <a:prstGeom prst="rect">
            <a:avLst/>
          </a:prstGeom>
          <a:solidFill>
            <a:srgbClr val="D6ECEE"/>
          </a:solidFill>
          <a:ln w="12700">
            <a:solidFill>
              <a:srgbClr val="D6ECEE"/>
            </a:solidFill>
            <a:prstDash val="solid"/>
          </a:ln>
        </p:spPr>
      </p:sp>
      <p:sp>
        <p:nvSpPr>
          <p:cNvPr id="58" name="Text 56"/>
          <p:cNvSpPr txBox="1"/>
          <p:nvPr/>
        </p:nvSpPr>
        <p:spPr>
          <a:xfrm>
            <a:off x="2743200" y="384048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Clinical guideline engine</a:t>
            </a:r>
            <a:endParaRPr lang="en-US" sz="1100" dirty="0"/>
          </a:p>
        </p:txBody>
      </p:sp>
      <p:sp>
        <p:nvSpPr>
          <p:cNvPr id="59" name="Shape 57"/>
          <p:cNvSpPr/>
          <p:nvPr/>
        </p:nvSpPr>
        <p:spPr>
          <a:xfrm>
            <a:off x="4023360" y="4197096"/>
            <a:ext cx="182880" cy="0"/>
          </a:xfrm>
          <a:prstGeom prst="line">
            <a:avLst/>
          </a:prstGeom>
          <a:noFill/>
          <a:ln w="19050">
            <a:solidFill>
              <a:srgbClr val="0E7C86"/>
            </a:solidFill>
            <a:prstDash val="solid"/>
            <a:tailEnd type="triangle"/>
          </a:ln>
        </p:spPr>
      </p:sp>
      <p:sp>
        <p:nvSpPr>
          <p:cNvPr id="60" name="Shape 58"/>
          <p:cNvSpPr/>
          <p:nvPr/>
        </p:nvSpPr>
        <p:spPr>
          <a:xfrm>
            <a:off x="4206240" y="3840480"/>
            <a:ext cx="1371600" cy="713232"/>
          </a:xfrm>
          <a:prstGeom prst="rect">
            <a:avLst/>
          </a:prstGeom>
          <a:solidFill>
            <a:srgbClr val="D6ECEE"/>
          </a:solidFill>
          <a:ln w="12700">
            <a:solidFill>
              <a:srgbClr val="D6ECEE"/>
            </a:solidFill>
            <a:prstDash val="solid"/>
          </a:ln>
        </p:spPr>
      </p:sp>
      <p:sp>
        <p:nvSpPr>
          <p:cNvPr id="61" name="Text 59"/>
          <p:cNvSpPr txBox="1"/>
          <p:nvPr/>
        </p:nvSpPr>
        <p:spPr>
          <a:xfrm>
            <a:off x="4297680" y="384048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Adherence tracking</a:t>
            </a:r>
            <a:endParaRPr lang="en-US" sz="1100" dirty="0"/>
          </a:p>
        </p:txBody>
      </p:sp>
      <p:sp>
        <p:nvSpPr>
          <p:cNvPr id="62" name="Shape 60"/>
          <p:cNvSpPr/>
          <p:nvPr/>
        </p:nvSpPr>
        <p:spPr>
          <a:xfrm>
            <a:off x="5577840" y="4197096"/>
            <a:ext cx="182880" cy="0"/>
          </a:xfrm>
          <a:prstGeom prst="line">
            <a:avLst/>
          </a:prstGeom>
          <a:noFill/>
          <a:ln w="19050">
            <a:solidFill>
              <a:srgbClr val="0E7C86"/>
            </a:solidFill>
            <a:prstDash val="solid"/>
            <a:tailEnd type="triangle"/>
          </a:ln>
        </p:spPr>
      </p:sp>
      <p:sp>
        <p:nvSpPr>
          <p:cNvPr id="63" name="Shape 61"/>
          <p:cNvSpPr/>
          <p:nvPr/>
        </p:nvSpPr>
        <p:spPr>
          <a:xfrm>
            <a:off x="5760720" y="3840480"/>
            <a:ext cx="1371600" cy="713232"/>
          </a:xfrm>
          <a:prstGeom prst="rect">
            <a:avLst/>
          </a:prstGeom>
          <a:solidFill>
            <a:srgbClr val="D6ECEE"/>
          </a:solidFill>
          <a:ln w="12700">
            <a:solidFill>
              <a:srgbClr val="D6ECEE"/>
            </a:solidFill>
            <a:prstDash val="solid"/>
          </a:ln>
        </p:spPr>
      </p:sp>
      <p:sp>
        <p:nvSpPr>
          <p:cNvPr id="64" name="Text 62"/>
          <p:cNvSpPr txBox="1"/>
          <p:nvPr/>
        </p:nvSpPr>
        <p:spPr>
          <a:xfrm>
            <a:off x="5852160" y="384048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Outcome measurement</a:t>
            </a:r>
            <a:endParaRPr lang="en-US" sz="1100" dirty="0"/>
          </a:p>
        </p:txBody>
      </p:sp>
      <p:sp>
        <p:nvSpPr>
          <p:cNvPr id="65" name="Shape 63"/>
          <p:cNvSpPr/>
          <p:nvPr/>
        </p:nvSpPr>
        <p:spPr>
          <a:xfrm>
            <a:off x="7132320" y="4197096"/>
            <a:ext cx="182880" cy="0"/>
          </a:xfrm>
          <a:prstGeom prst="line">
            <a:avLst/>
          </a:prstGeom>
          <a:noFill/>
          <a:ln w="19050">
            <a:solidFill>
              <a:srgbClr val="0E7C86"/>
            </a:solidFill>
            <a:prstDash val="solid"/>
            <a:tailEnd type="triangle"/>
          </a:ln>
        </p:spPr>
      </p:sp>
      <p:sp>
        <p:nvSpPr>
          <p:cNvPr id="66" name="Shape 64"/>
          <p:cNvSpPr/>
          <p:nvPr/>
        </p:nvSpPr>
        <p:spPr>
          <a:xfrm>
            <a:off x="7315200" y="3840480"/>
            <a:ext cx="1371600" cy="713232"/>
          </a:xfrm>
          <a:prstGeom prst="rect">
            <a:avLst/>
          </a:prstGeom>
          <a:solidFill>
            <a:srgbClr val="D6ECEE"/>
          </a:solidFill>
          <a:ln w="12700">
            <a:solidFill>
              <a:srgbClr val="D6ECEE"/>
            </a:solidFill>
            <a:prstDash val="solid"/>
          </a:ln>
        </p:spPr>
      </p:sp>
      <p:sp>
        <p:nvSpPr>
          <p:cNvPr id="67" name="Text 65"/>
          <p:cNvSpPr txBox="1"/>
          <p:nvPr/>
        </p:nvSpPr>
        <p:spPr>
          <a:xfrm>
            <a:off x="7406640" y="3840480"/>
            <a:ext cx="1188720" cy="713232"/>
          </a:xfrm>
          <a:prstGeom prst="rect">
            <a:avLst/>
          </a:prstGeom>
          <a:noFill/>
          <a:ln/>
        </p:spPr>
        <p:txBody>
          <a:bodyPr wrap="square" lIns="0" tIns="0" rIns="0" bIns="0" rtlCol="0" anchor="ctr"/>
          <a:lstStyle/>
          <a:p>
            <a:pPr marL="0" indent="0" algn="ctr">
              <a:buNone/>
            </a:pPr>
            <a:r>
              <a:rPr lang="en-US" sz="1100" b="1" dirty="0">
                <a:solidFill>
                  <a:srgbClr val="1B2B34"/>
                </a:solidFill>
                <a:latin typeface="Calibri" pitchFamily="34" charset="0"/>
                <a:ea typeface="Calibri" pitchFamily="34" charset="-122"/>
                <a:cs typeface="Calibri" pitchFamily="34" charset="-120"/>
              </a:rPr>
              <a:t>Provider collaboration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MILESTONE 1</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1B2B34"/>
                </a:solidFill>
                <a:latin typeface="Cambria" pitchFamily="34" charset="0"/>
                <a:ea typeface="Cambria" pitchFamily="34" charset="-122"/>
                <a:cs typeface="Cambria" pitchFamily="34" charset="-120"/>
              </a:rPr>
              <a:t>FHIR Integration &amp; Digital Twin</a:t>
            </a:r>
            <a:endParaRPr lang="en-US" sz="3200" dirty="0"/>
          </a:p>
        </p:txBody>
      </p:sp>
      <p:sp>
        <p:nvSpPr>
          <p:cNvPr id="4" name="Shape 2"/>
          <p:cNvSpPr/>
          <p:nvPr/>
        </p:nvSpPr>
        <p:spPr>
          <a:xfrm>
            <a:off x="457200" y="1307592"/>
            <a:ext cx="384048" cy="384048"/>
          </a:xfrm>
          <a:prstGeom prst="ellipse">
            <a:avLst/>
          </a:prstGeom>
          <a:solidFill>
            <a:srgbClr val="0E7C86"/>
          </a:solidFill>
          <a:ln w="12700">
            <a:solidFill>
              <a:srgbClr val="0E7C86"/>
            </a:solidFill>
            <a:prstDash val="solid"/>
          </a:ln>
        </p:spPr>
      </p:sp>
      <p:sp>
        <p:nvSpPr>
          <p:cNvPr id="5" name="Text 3"/>
          <p:cNvSpPr txBox="1"/>
          <p:nvPr/>
        </p:nvSpPr>
        <p:spPr>
          <a:xfrm>
            <a:off x="457200" y="1307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05840" y="1280160"/>
            <a:ext cx="3566160" cy="438912"/>
          </a:xfrm>
          <a:prstGeom prst="rect">
            <a:avLst/>
          </a:prstGeom>
          <a:noFill/>
          <a:ln/>
        </p:spPr>
        <p:txBody>
          <a:bodyPr wrap="square" lIns="0" tIns="0" rIns="0" bIns="0" rtlCol="0" anchor="ctr"/>
          <a:lstStyle/>
          <a:p>
            <a:pPr marL="0" indent="0">
              <a:buNone/>
            </a:pPr>
            <a:r>
              <a:rPr lang="en-US" sz="1250" dirty="0">
                <a:solidFill>
                  <a:srgbClr val="1B2B34"/>
                </a:solidFill>
                <a:latin typeface="Calibri" pitchFamily="34" charset="0"/>
                <a:ea typeface="Calibri" pitchFamily="34" charset="-122"/>
                <a:cs typeface="Calibri" pitchFamily="34" charset="-120"/>
              </a:rPr>
              <a:t>Collect wearable and lab rows (Excel demo source)</a:t>
            </a:r>
            <a:endParaRPr lang="en-US" sz="1250" dirty="0"/>
          </a:p>
        </p:txBody>
      </p:sp>
      <p:sp>
        <p:nvSpPr>
          <p:cNvPr id="7" name="Shape 5"/>
          <p:cNvSpPr/>
          <p:nvPr/>
        </p:nvSpPr>
        <p:spPr>
          <a:xfrm>
            <a:off x="457200" y="1856232"/>
            <a:ext cx="384048" cy="384048"/>
          </a:xfrm>
          <a:prstGeom prst="ellipse">
            <a:avLst/>
          </a:prstGeom>
          <a:solidFill>
            <a:srgbClr val="0E7C86"/>
          </a:solidFill>
          <a:ln w="12700">
            <a:solidFill>
              <a:srgbClr val="0E7C86"/>
            </a:solidFill>
            <a:prstDash val="solid"/>
          </a:ln>
        </p:spPr>
      </p:sp>
      <p:sp>
        <p:nvSpPr>
          <p:cNvPr id="8" name="Text 6"/>
          <p:cNvSpPr txBox="1"/>
          <p:nvPr/>
        </p:nvSpPr>
        <p:spPr>
          <a:xfrm>
            <a:off x="457200" y="18562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05840" y="1828800"/>
            <a:ext cx="3566160" cy="438912"/>
          </a:xfrm>
          <a:prstGeom prst="rect">
            <a:avLst/>
          </a:prstGeom>
          <a:noFill/>
          <a:ln/>
        </p:spPr>
        <p:txBody>
          <a:bodyPr wrap="square" lIns="0" tIns="0" rIns="0" bIns="0" rtlCol="0" anchor="ctr"/>
          <a:lstStyle/>
          <a:p>
            <a:pPr marL="0" indent="0">
              <a:buNone/>
            </a:pPr>
            <a:r>
              <a:rPr lang="en-US" sz="1250" dirty="0">
                <a:solidFill>
                  <a:srgbClr val="1B2B34"/>
                </a:solidFill>
                <a:latin typeface="Calibri" pitchFamily="34" charset="0"/>
                <a:ea typeface="Calibri" pitchFamily="34" charset="-122"/>
                <a:cs typeface="Calibri" pitchFamily="34" charset="-120"/>
              </a:rPr>
              <a:t>Convert each row to a FHIR R4 Observation via the local API</a:t>
            </a:r>
            <a:endParaRPr lang="en-US" sz="1250" dirty="0"/>
          </a:p>
        </p:txBody>
      </p:sp>
      <p:sp>
        <p:nvSpPr>
          <p:cNvPr id="10" name="Shape 8"/>
          <p:cNvSpPr/>
          <p:nvPr/>
        </p:nvSpPr>
        <p:spPr>
          <a:xfrm>
            <a:off x="457200" y="2404872"/>
            <a:ext cx="384048" cy="384048"/>
          </a:xfrm>
          <a:prstGeom prst="ellipse">
            <a:avLst/>
          </a:prstGeom>
          <a:solidFill>
            <a:srgbClr val="0E7C86"/>
          </a:solidFill>
          <a:ln w="12700">
            <a:solidFill>
              <a:srgbClr val="0E7C86"/>
            </a:solidFill>
            <a:prstDash val="solid"/>
          </a:ln>
        </p:spPr>
      </p:sp>
      <p:sp>
        <p:nvSpPr>
          <p:cNvPr id="11" name="Text 9"/>
          <p:cNvSpPr txBox="1"/>
          <p:nvPr/>
        </p:nvSpPr>
        <p:spPr>
          <a:xfrm>
            <a:off x="457200" y="24048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005840" y="2377440"/>
            <a:ext cx="3566160" cy="438912"/>
          </a:xfrm>
          <a:prstGeom prst="rect">
            <a:avLst/>
          </a:prstGeom>
          <a:noFill/>
          <a:ln/>
        </p:spPr>
        <p:txBody>
          <a:bodyPr wrap="square" lIns="0" tIns="0" rIns="0" bIns="0" rtlCol="0" anchor="ctr"/>
          <a:lstStyle/>
          <a:p>
            <a:pPr marL="0" indent="0">
              <a:buNone/>
            </a:pPr>
            <a:r>
              <a:rPr lang="en-US" sz="1250" dirty="0">
                <a:solidFill>
                  <a:srgbClr val="1B2B34"/>
                </a:solidFill>
                <a:latin typeface="Calibri" pitchFamily="34" charset="0"/>
                <a:ea typeface="Calibri" pitchFamily="34" charset="-122"/>
                <a:cs typeface="Calibri" pitchFamily="34" charset="-120"/>
              </a:rPr>
              <a:t>Publish the FHIR resource to a Kafka topic</a:t>
            </a:r>
            <a:endParaRPr lang="en-US" sz="1250" dirty="0"/>
          </a:p>
        </p:txBody>
      </p:sp>
      <p:sp>
        <p:nvSpPr>
          <p:cNvPr id="13" name="Shape 11"/>
          <p:cNvSpPr/>
          <p:nvPr/>
        </p:nvSpPr>
        <p:spPr>
          <a:xfrm>
            <a:off x="457200" y="2953512"/>
            <a:ext cx="384048" cy="384048"/>
          </a:xfrm>
          <a:prstGeom prst="ellipse">
            <a:avLst/>
          </a:prstGeom>
          <a:solidFill>
            <a:srgbClr val="0E7C86"/>
          </a:solidFill>
          <a:ln w="12700">
            <a:solidFill>
              <a:srgbClr val="0E7C86"/>
            </a:solidFill>
            <a:prstDash val="solid"/>
          </a:ln>
        </p:spPr>
      </p:sp>
      <p:sp>
        <p:nvSpPr>
          <p:cNvPr id="14" name="Text 12"/>
          <p:cNvSpPr txBox="1"/>
          <p:nvPr/>
        </p:nvSpPr>
        <p:spPr>
          <a:xfrm>
            <a:off x="457200" y="29535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005840" y="2926080"/>
            <a:ext cx="3566160" cy="438912"/>
          </a:xfrm>
          <a:prstGeom prst="rect">
            <a:avLst/>
          </a:prstGeom>
          <a:noFill/>
          <a:ln/>
        </p:spPr>
        <p:txBody>
          <a:bodyPr wrap="square" lIns="0" tIns="0" rIns="0" bIns="0" rtlCol="0" anchor="ctr"/>
          <a:lstStyle/>
          <a:p>
            <a:pPr marL="0" indent="0">
              <a:buNone/>
            </a:pPr>
            <a:r>
              <a:rPr lang="en-US" sz="1250" dirty="0">
                <a:solidFill>
                  <a:srgbClr val="1B2B34"/>
                </a:solidFill>
                <a:latin typeface="Calibri" pitchFamily="34" charset="0"/>
                <a:ea typeface="Calibri" pitchFamily="34" charset="-122"/>
                <a:cs typeface="Calibri" pitchFamily="34" charset="-120"/>
              </a:rPr>
              <a:t>A Kafka consumer persists it to MongoDB</a:t>
            </a:r>
            <a:endParaRPr lang="en-US" sz="1250" dirty="0"/>
          </a:p>
        </p:txBody>
      </p:sp>
      <p:sp>
        <p:nvSpPr>
          <p:cNvPr id="16" name="Shape 14"/>
          <p:cNvSpPr/>
          <p:nvPr/>
        </p:nvSpPr>
        <p:spPr>
          <a:xfrm>
            <a:off x="457200" y="3502152"/>
            <a:ext cx="384048" cy="384048"/>
          </a:xfrm>
          <a:prstGeom prst="ellipse">
            <a:avLst/>
          </a:prstGeom>
          <a:solidFill>
            <a:srgbClr val="0E7C86"/>
          </a:solidFill>
          <a:ln w="12700">
            <a:solidFill>
              <a:srgbClr val="0E7C86"/>
            </a:solidFill>
            <a:prstDash val="solid"/>
          </a:ln>
        </p:spPr>
      </p:sp>
      <p:sp>
        <p:nvSpPr>
          <p:cNvPr id="17" name="Text 15"/>
          <p:cNvSpPr txBox="1"/>
          <p:nvPr/>
        </p:nvSpPr>
        <p:spPr>
          <a:xfrm>
            <a:off x="457200" y="350215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005840" y="3474720"/>
            <a:ext cx="3566160" cy="438912"/>
          </a:xfrm>
          <a:prstGeom prst="rect">
            <a:avLst/>
          </a:prstGeom>
          <a:noFill/>
          <a:ln/>
        </p:spPr>
        <p:txBody>
          <a:bodyPr wrap="square" lIns="0" tIns="0" rIns="0" bIns="0" rtlCol="0" anchor="ctr"/>
          <a:lstStyle/>
          <a:p>
            <a:pPr marL="0" indent="0">
              <a:buNone/>
            </a:pPr>
            <a:r>
              <a:rPr lang="en-US" sz="1250" dirty="0">
                <a:solidFill>
                  <a:srgbClr val="1B2B34"/>
                </a:solidFill>
                <a:latin typeface="Calibri" pitchFamily="34" charset="0"/>
                <a:ea typeface="Calibri" pitchFamily="34" charset="-122"/>
                <a:cs typeface="Calibri" pitchFamily="34" charset="-120"/>
              </a:rPr>
              <a:t>The consumer assembles the digital health twin</a:t>
            </a:r>
            <a:endParaRPr lang="en-US" sz="1250" dirty="0"/>
          </a:p>
        </p:txBody>
      </p:sp>
      <p:sp>
        <p:nvSpPr>
          <p:cNvPr id="19" name="Shape 17"/>
          <p:cNvSpPr/>
          <p:nvPr/>
        </p:nvSpPr>
        <p:spPr>
          <a:xfrm>
            <a:off x="457200" y="4050792"/>
            <a:ext cx="384048" cy="384048"/>
          </a:xfrm>
          <a:prstGeom prst="ellipse">
            <a:avLst/>
          </a:prstGeom>
          <a:solidFill>
            <a:srgbClr val="0E7C86"/>
          </a:solidFill>
          <a:ln w="12700">
            <a:solidFill>
              <a:srgbClr val="0E7C86"/>
            </a:solidFill>
            <a:prstDash val="solid"/>
          </a:ln>
        </p:spPr>
      </p:sp>
      <p:sp>
        <p:nvSpPr>
          <p:cNvPr id="20" name="Text 18"/>
          <p:cNvSpPr txBox="1"/>
          <p:nvPr/>
        </p:nvSpPr>
        <p:spPr>
          <a:xfrm>
            <a:off x="457200" y="40507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txBox="1"/>
          <p:nvPr/>
        </p:nvSpPr>
        <p:spPr>
          <a:xfrm>
            <a:off x="1005840" y="4023360"/>
            <a:ext cx="3566160" cy="438912"/>
          </a:xfrm>
          <a:prstGeom prst="rect">
            <a:avLst/>
          </a:prstGeom>
          <a:noFill/>
          <a:ln/>
        </p:spPr>
        <p:txBody>
          <a:bodyPr wrap="square" lIns="0" tIns="0" rIns="0" bIns="0" rtlCol="0" anchor="ctr"/>
          <a:lstStyle/>
          <a:p>
            <a:pPr marL="0" indent="0">
              <a:buNone/>
            </a:pPr>
            <a:r>
              <a:rPr lang="en-US" sz="1250" dirty="0">
                <a:solidFill>
                  <a:srgbClr val="1B2B34"/>
                </a:solidFill>
                <a:latin typeface="Calibri" pitchFamily="34" charset="0"/>
                <a:ea typeface="Calibri" pitchFamily="34" charset="-122"/>
                <a:cs typeface="Calibri" pitchFamily="34" charset="-120"/>
              </a:rPr>
              <a:t>React Patient 360 reads /api/twins/:patientId</a:t>
            </a:r>
            <a:endParaRPr lang="en-US" sz="1250" dirty="0"/>
          </a:p>
        </p:txBody>
      </p:sp>
      <p:sp>
        <p:nvSpPr>
          <p:cNvPr id="22" name="Shape 20"/>
          <p:cNvSpPr/>
          <p:nvPr/>
        </p:nvSpPr>
        <p:spPr>
          <a:xfrm>
            <a:off x="4937760" y="1280160"/>
            <a:ext cx="3749040" cy="21488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3" name="Text 21"/>
          <p:cNvSpPr txBox="1"/>
          <p:nvPr/>
        </p:nvSpPr>
        <p:spPr>
          <a:xfrm>
            <a:off x="5120640" y="1371600"/>
            <a:ext cx="3383280" cy="27432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Validation &amp; security implemented</a:t>
            </a:r>
            <a:endParaRPr lang="en-US" sz="1300" dirty="0"/>
          </a:p>
        </p:txBody>
      </p:sp>
      <p:pic>
        <p:nvPicPr>
          <p:cNvPr id="24" name="Image 0" descr="preencoded.png"/>
          <p:cNvPicPr>
            <a:picLocks noChangeAspect="1"/>
          </p:cNvPicPr>
          <p:nvPr/>
        </p:nvPicPr>
        <p:blipFill>
          <a:blip r:embed="rId3"/>
          <a:stretch>
            <a:fillRect/>
          </a:stretch>
        </p:blipFill>
        <p:spPr>
          <a:xfrm>
            <a:off x="5120640" y="1755648"/>
            <a:ext cx="182880" cy="182880"/>
          </a:xfrm>
          <a:prstGeom prst="rect">
            <a:avLst/>
          </a:prstGeom>
        </p:spPr>
      </p:pic>
      <p:sp>
        <p:nvSpPr>
          <p:cNvPr id="25" name="Text 22"/>
          <p:cNvSpPr txBox="1"/>
          <p:nvPr/>
        </p:nvSpPr>
        <p:spPr>
          <a:xfrm>
            <a:off x="5394960" y="1737360"/>
            <a:ext cx="3108960" cy="228600"/>
          </a:xfrm>
          <a:prstGeom prst="rect">
            <a:avLst/>
          </a:prstGeom>
          <a:noFill/>
          <a:ln/>
        </p:spPr>
        <p:txBody>
          <a:bodyPr wrap="square" lIns="0" tIns="0" rIns="0" bIns="0" rtlCol="0" anchor="ctr"/>
          <a:lstStyle/>
          <a:p>
            <a:pPr marL="0" indent="0">
              <a:buNone/>
            </a:pPr>
            <a:r>
              <a:rPr lang="en-US" sz="1150" dirty="0">
                <a:solidFill>
                  <a:srgbClr val="1B2B34"/>
                </a:solidFill>
                <a:latin typeface="Calibri" pitchFamily="34" charset="0"/>
                <a:ea typeface="Calibri" pitchFamily="34" charset="-122"/>
                <a:cs typeface="Calibri" pitchFamily="34" charset="-120"/>
              </a:rPr>
              <a:t>FHIR resource validation</a:t>
            </a:r>
            <a:endParaRPr lang="en-US" sz="1150" dirty="0"/>
          </a:p>
        </p:txBody>
      </p:sp>
      <p:pic>
        <p:nvPicPr>
          <p:cNvPr id="26" name="Image 1" descr="preencoded.png"/>
          <p:cNvPicPr>
            <a:picLocks noChangeAspect="1"/>
          </p:cNvPicPr>
          <p:nvPr/>
        </p:nvPicPr>
        <p:blipFill>
          <a:blip r:embed="rId3"/>
          <a:stretch>
            <a:fillRect/>
          </a:stretch>
        </p:blipFill>
        <p:spPr>
          <a:xfrm>
            <a:off x="5120640" y="2020824"/>
            <a:ext cx="182880" cy="182880"/>
          </a:xfrm>
          <a:prstGeom prst="rect">
            <a:avLst/>
          </a:prstGeom>
        </p:spPr>
      </p:pic>
      <p:sp>
        <p:nvSpPr>
          <p:cNvPr id="27" name="Text 23"/>
          <p:cNvSpPr txBox="1"/>
          <p:nvPr/>
        </p:nvSpPr>
        <p:spPr>
          <a:xfrm>
            <a:off x="5394960" y="2002536"/>
            <a:ext cx="3108960" cy="228600"/>
          </a:xfrm>
          <a:prstGeom prst="rect">
            <a:avLst/>
          </a:prstGeom>
          <a:noFill/>
          <a:ln/>
        </p:spPr>
        <p:txBody>
          <a:bodyPr wrap="square" lIns="0" tIns="0" rIns="0" bIns="0" rtlCol="0" anchor="ctr"/>
          <a:lstStyle/>
          <a:p>
            <a:pPr marL="0" indent="0">
              <a:buNone/>
            </a:pPr>
            <a:r>
              <a:rPr lang="en-US" sz="1150" dirty="0">
                <a:solidFill>
                  <a:srgbClr val="1B2B34"/>
                </a:solidFill>
                <a:latin typeface="Calibri" pitchFamily="34" charset="0"/>
                <a:ea typeface="Calibri" pitchFamily="34" charset="-122"/>
                <a:cs typeface="Calibri" pitchFamily="34" charset="-120"/>
              </a:rPr>
              <a:t>Patient consent verification</a:t>
            </a:r>
            <a:endParaRPr lang="en-US" sz="1150" dirty="0"/>
          </a:p>
        </p:txBody>
      </p:sp>
      <p:pic>
        <p:nvPicPr>
          <p:cNvPr id="28" name="Image 2" descr="preencoded.png"/>
          <p:cNvPicPr>
            <a:picLocks noChangeAspect="1"/>
          </p:cNvPicPr>
          <p:nvPr/>
        </p:nvPicPr>
        <p:blipFill>
          <a:blip r:embed="rId3"/>
          <a:stretch>
            <a:fillRect/>
          </a:stretch>
        </p:blipFill>
        <p:spPr>
          <a:xfrm>
            <a:off x="5120640" y="2286000"/>
            <a:ext cx="182880" cy="182880"/>
          </a:xfrm>
          <a:prstGeom prst="rect">
            <a:avLst/>
          </a:prstGeom>
        </p:spPr>
      </p:pic>
      <p:sp>
        <p:nvSpPr>
          <p:cNvPr id="29" name="Text 24"/>
          <p:cNvSpPr txBox="1"/>
          <p:nvPr/>
        </p:nvSpPr>
        <p:spPr>
          <a:xfrm>
            <a:off x="5394960" y="2267712"/>
            <a:ext cx="3108960" cy="228600"/>
          </a:xfrm>
          <a:prstGeom prst="rect">
            <a:avLst/>
          </a:prstGeom>
          <a:noFill/>
          <a:ln/>
        </p:spPr>
        <p:txBody>
          <a:bodyPr wrap="square" lIns="0" tIns="0" rIns="0" bIns="0" rtlCol="0" anchor="ctr"/>
          <a:lstStyle/>
          <a:p>
            <a:pPr marL="0" indent="0">
              <a:buNone/>
            </a:pPr>
            <a:r>
              <a:rPr lang="en-US" sz="1150" dirty="0">
                <a:solidFill>
                  <a:srgbClr val="1B2B34"/>
                </a:solidFill>
                <a:latin typeface="Calibri" pitchFamily="34" charset="0"/>
                <a:ea typeface="Calibri" pitchFamily="34" charset="-122"/>
                <a:cs typeface="Calibri" pitchFamily="34" charset="-120"/>
              </a:rPr>
              <a:t>Twin completeness check (&gt; 95%)</a:t>
            </a:r>
            <a:endParaRPr lang="en-US" sz="1150" dirty="0"/>
          </a:p>
        </p:txBody>
      </p:sp>
      <p:pic>
        <p:nvPicPr>
          <p:cNvPr id="30" name="Image 3" descr="preencoded.png"/>
          <p:cNvPicPr>
            <a:picLocks noChangeAspect="1"/>
          </p:cNvPicPr>
          <p:nvPr/>
        </p:nvPicPr>
        <p:blipFill>
          <a:blip r:embed="rId3"/>
          <a:stretch>
            <a:fillRect/>
          </a:stretch>
        </p:blipFill>
        <p:spPr>
          <a:xfrm>
            <a:off x="5120640" y="2551176"/>
            <a:ext cx="182880" cy="182880"/>
          </a:xfrm>
          <a:prstGeom prst="rect">
            <a:avLst/>
          </a:prstGeom>
        </p:spPr>
      </p:pic>
      <p:sp>
        <p:nvSpPr>
          <p:cNvPr id="31" name="Text 25"/>
          <p:cNvSpPr txBox="1"/>
          <p:nvPr/>
        </p:nvSpPr>
        <p:spPr>
          <a:xfrm>
            <a:off x="5394960" y="2532888"/>
            <a:ext cx="3108960" cy="228600"/>
          </a:xfrm>
          <a:prstGeom prst="rect">
            <a:avLst/>
          </a:prstGeom>
          <a:noFill/>
          <a:ln/>
        </p:spPr>
        <p:txBody>
          <a:bodyPr wrap="square" lIns="0" tIns="0" rIns="0" bIns="0" rtlCol="0" anchor="ctr"/>
          <a:lstStyle/>
          <a:p>
            <a:pPr marL="0" indent="0">
              <a:buNone/>
            </a:pPr>
            <a:r>
              <a:rPr lang="en-US" sz="1150" dirty="0">
                <a:solidFill>
                  <a:srgbClr val="1B2B34"/>
                </a:solidFill>
                <a:latin typeface="Calibri" pitchFamily="34" charset="0"/>
                <a:ea typeface="Calibri" pitchFamily="34" charset="-122"/>
                <a:cs typeface="Calibri" pitchFamily="34" charset="-120"/>
              </a:rPr>
              <a:t>Wearable vital-range validation</a:t>
            </a:r>
            <a:endParaRPr lang="en-US" sz="1150" dirty="0"/>
          </a:p>
        </p:txBody>
      </p:sp>
      <p:pic>
        <p:nvPicPr>
          <p:cNvPr id="32" name="Image 4" descr="preencoded.png"/>
          <p:cNvPicPr>
            <a:picLocks noChangeAspect="1"/>
          </p:cNvPicPr>
          <p:nvPr/>
        </p:nvPicPr>
        <p:blipFill>
          <a:blip r:embed="rId3"/>
          <a:stretch>
            <a:fillRect/>
          </a:stretch>
        </p:blipFill>
        <p:spPr>
          <a:xfrm>
            <a:off x="5120640" y="2816352"/>
            <a:ext cx="182880" cy="182880"/>
          </a:xfrm>
          <a:prstGeom prst="rect">
            <a:avLst/>
          </a:prstGeom>
        </p:spPr>
      </p:pic>
      <p:sp>
        <p:nvSpPr>
          <p:cNvPr id="33" name="Text 26"/>
          <p:cNvSpPr txBox="1"/>
          <p:nvPr/>
        </p:nvSpPr>
        <p:spPr>
          <a:xfrm>
            <a:off x="5394960" y="2798064"/>
            <a:ext cx="3108960" cy="228600"/>
          </a:xfrm>
          <a:prstGeom prst="rect">
            <a:avLst/>
          </a:prstGeom>
          <a:noFill/>
          <a:ln/>
        </p:spPr>
        <p:txBody>
          <a:bodyPr wrap="square" lIns="0" tIns="0" rIns="0" bIns="0" rtlCol="0" anchor="ctr"/>
          <a:lstStyle/>
          <a:p>
            <a:pPr marL="0" indent="0">
              <a:buNone/>
            </a:pPr>
            <a:r>
              <a:rPr lang="en-US" sz="1150" dirty="0">
                <a:solidFill>
                  <a:srgbClr val="1B2B34"/>
                </a:solidFill>
                <a:latin typeface="Calibri" pitchFamily="34" charset="0"/>
                <a:ea typeface="Calibri" pitchFamily="34" charset="-122"/>
                <a:cs typeface="Calibri" pitchFamily="34" charset="-120"/>
              </a:rPr>
              <a:t>RBAC for provider / patient</a:t>
            </a:r>
            <a:endParaRPr lang="en-US" sz="1150" dirty="0"/>
          </a:p>
        </p:txBody>
      </p:sp>
      <p:pic>
        <p:nvPicPr>
          <p:cNvPr id="34" name="Image 5" descr="preencoded.png"/>
          <p:cNvPicPr>
            <a:picLocks noChangeAspect="1"/>
          </p:cNvPicPr>
          <p:nvPr/>
        </p:nvPicPr>
        <p:blipFill>
          <a:blip r:embed="rId3"/>
          <a:stretch>
            <a:fillRect/>
          </a:stretch>
        </p:blipFill>
        <p:spPr>
          <a:xfrm>
            <a:off x="5120640" y="3081528"/>
            <a:ext cx="182880" cy="182880"/>
          </a:xfrm>
          <a:prstGeom prst="rect">
            <a:avLst/>
          </a:prstGeom>
        </p:spPr>
      </p:pic>
      <p:sp>
        <p:nvSpPr>
          <p:cNvPr id="35" name="Text 27"/>
          <p:cNvSpPr txBox="1"/>
          <p:nvPr/>
        </p:nvSpPr>
        <p:spPr>
          <a:xfrm>
            <a:off x="5394960" y="3063240"/>
            <a:ext cx="3108960" cy="228600"/>
          </a:xfrm>
          <a:prstGeom prst="rect">
            <a:avLst/>
          </a:prstGeom>
          <a:noFill/>
          <a:ln/>
        </p:spPr>
        <p:txBody>
          <a:bodyPr wrap="square" lIns="0" tIns="0" rIns="0" bIns="0" rtlCol="0" anchor="ctr"/>
          <a:lstStyle/>
          <a:p>
            <a:pPr marL="0" indent="0">
              <a:buNone/>
            </a:pPr>
            <a:r>
              <a:rPr lang="en-US" sz="1150" dirty="0">
                <a:solidFill>
                  <a:srgbClr val="1B2B34"/>
                </a:solidFill>
                <a:latin typeface="Calibri" pitchFamily="34" charset="0"/>
                <a:ea typeface="Calibri" pitchFamily="34" charset="-122"/>
                <a:cs typeface="Calibri" pitchFamily="34" charset="-120"/>
              </a:rPr>
              <a:t>HIPAA audit-logging foundation</a:t>
            </a:r>
            <a:endParaRPr lang="en-US" sz="1150" dirty="0"/>
          </a:p>
        </p:txBody>
      </p:sp>
      <p:sp>
        <p:nvSpPr>
          <p:cNvPr id="36" name="Shape 28"/>
          <p:cNvSpPr/>
          <p:nvPr/>
        </p:nvSpPr>
        <p:spPr>
          <a:xfrm>
            <a:off x="4937760" y="3566160"/>
            <a:ext cx="3749040" cy="1143000"/>
          </a:xfrm>
          <a:prstGeom prst="rect">
            <a:avLst/>
          </a:prstGeom>
          <a:solidFill>
            <a:srgbClr val="0B2A35"/>
          </a:solidFill>
          <a:ln w="12700">
            <a:solidFill>
              <a:srgbClr val="0B2A35"/>
            </a:solidFill>
            <a:prstDash val="solid"/>
          </a:ln>
        </p:spPr>
      </p:sp>
      <p:sp>
        <p:nvSpPr>
          <p:cNvPr id="37" name="Text 29"/>
          <p:cNvSpPr txBox="1"/>
          <p:nvPr/>
        </p:nvSpPr>
        <p:spPr>
          <a:xfrm>
            <a:off x="5120640" y="3639312"/>
            <a:ext cx="3383280" cy="228600"/>
          </a:xfrm>
          <a:prstGeom prst="rect">
            <a:avLst/>
          </a:prstGeom>
          <a:noFill/>
          <a:ln/>
        </p:spPr>
        <p:txBody>
          <a:bodyPr wrap="square" lIns="0" tIns="0" rIns="0" bIns="0" rtlCol="0" anchor="ctr"/>
          <a:lstStyle/>
          <a:p>
            <a:pPr marL="0" indent="0">
              <a:buNone/>
            </a:pPr>
            <a:r>
              <a:rPr lang="en-US" sz="1100" b="1" dirty="0">
                <a:solidFill>
                  <a:srgbClr val="7FD1D8"/>
                </a:solidFill>
                <a:latin typeface="Calibri" pitchFamily="34" charset="0"/>
                <a:ea typeface="Calibri" pitchFamily="34" charset="-122"/>
                <a:cs typeface="Calibri" pitchFamily="34" charset="-120"/>
              </a:rPr>
              <a:t>Local FHIR API</a:t>
            </a:r>
            <a:endParaRPr lang="en-US" sz="1100" dirty="0"/>
          </a:p>
        </p:txBody>
      </p:sp>
      <p:sp>
        <p:nvSpPr>
          <p:cNvPr id="38" name="Text 30"/>
          <p:cNvSpPr txBox="1"/>
          <p:nvPr/>
        </p:nvSpPr>
        <p:spPr>
          <a:xfrm>
            <a:off x="5120640" y="3886200"/>
            <a:ext cx="3474720" cy="777240"/>
          </a:xfrm>
          <a:prstGeom prst="rect">
            <a:avLst/>
          </a:prstGeom>
          <a:noFill/>
          <a:ln/>
        </p:spPr>
        <p:txBody>
          <a:bodyPr wrap="square" lIns="0" tIns="0" rIns="0" bIns="0" rtlCol="0" anchor="t"/>
          <a:lstStyle/>
          <a:p>
            <a:pPr marL="0" indent="0">
              <a:buNone/>
            </a:pPr>
            <a:r>
              <a:rPr lang="en-US" sz="950" dirty="0">
                <a:solidFill>
                  <a:srgbClr val="FFFFFF"/>
                </a:solidFill>
                <a:latin typeface="Courier New" pitchFamily="34" charset="0"/>
                <a:ea typeface="Courier New" pitchFamily="34" charset="-122"/>
                <a:cs typeface="Courier New" pitchFamily="34" charset="-120"/>
              </a:rPr>
              <a:t>GET  /fhir/R4/metadata</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GET  /fhir/R4/Patient/P001</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GET|POST /fhir/R4/Observation</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GET  /.well-known/smart-configuration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MILESTONE 2</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1B2B34"/>
                </a:solidFill>
                <a:latin typeface="Cambria" pitchFamily="34" charset="0"/>
                <a:ea typeface="Cambria" pitchFamily="34" charset="-122"/>
                <a:cs typeface="Cambria" pitchFamily="34" charset="-120"/>
              </a:rPr>
              <a:t>Federated Learning &amp; Risk Models</a:t>
            </a:r>
            <a:endParaRPr lang="en-US" sz="3200" dirty="0"/>
          </a:p>
        </p:txBody>
      </p:sp>
      <p:sp>
        <p:nvSpPr>
          <p:cNvPr id="4" name="Shape 2"/>
          <p:cNvSpPr/>
          <p:nvPr/>
        </p:nvSpPr>
        <p:spPr>
          <a:xfrm>
            <a:off x="457200" y="1280160"/>
            <a:ext cx="5029200"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 name="Shape 3"/>
          <p:cNvSpPr/>
          <p:nvPr/>
        </p:nvSpPr>
        <p:spPr>
          <a:xfrm>
            <a:off x="566928" y="1362456"/>
            <a:ext cx="384048" cy="384048"/>
          </a:xfrm>
          <a:prstGeom prst="ellipse">
            <a:avLst/>
          </a:prstGeom>
          <a:solidFill>
            <a:srgbClr val="C9861A"/>
          </a:solidFill>
          <a:ln w="12700">
            <a:solidFill>
              <a:srgbClr val="C9861A"/>
            </a:solidFill>
            <a:prstDash val="solid"/>
          </a:ln>
        </p:spPr>
      </p:sp>
      <p:pic>
        <p:nvPicPr>
          <p:cNvPr id="6" name="Image 0" descr="preencoded.png"/>
          <p:cNvPicPr>
            <a:picLocks noChangeAspect="1"/>
          </p:cNvPicPr>
          <p:nvPr/>
        </p:nvPicPr>
        <p:blipFill>
          <a:blip r:embed="rId3"/>
          <a:stretch>
            <a:fillRect/>
          </a:stretch>
        </p:blipFill>
        <p:spPr>
          <a:xfrm>
            <a:off x="662940" y="1458468"/>
            <a:ext cx="192024" cy="192024"/>
          </a:xfrm>
          <a:prstGeom prst="rect">
            <a:avLst/>
          </a:prstGeom>
        </p:spPr>
      </p:pic>
      <p:sp>
        <p:nvSpPr>
          <p:cNvPr id="7" name="Text 4"/>
          <p:cNvSpPr txBox="1"/>
          <p:nvPr/>
        </p:nvSpPr>
        <p:spPr>
          <a:xfrm>
            <a:off x="1097280" y="1325880"/>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TensorFlow Federated setup</a:t>
            </a:r>
            <a:endParaRPr lang="en-US" sz="1300" dirty="0"/>
          </a:p>
        </p:txBody>
      </p:sp>
      <p:sp>
        <p:nvSpPr>
          <p:cNvPr id="8" name="Text 5"/>
          <p:cNvSpPr txBox="1"/>
          <p:nvPr/>
        </p:nvSpPr>
        <p:spPr>
          <a:xfrm>
            <a:off x="1097280" y="1563624"/>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Federated Averaging across 3 hospital nodes, ε = 1.25</a:t>
            </a:r>
            <a:endParaRPr lang="en-US" sz="1050" dirty="0"/>
          </a:p>
        </p:txBody>
      </p:sp>
      <p:sp>
        <p:nvSpPr>
          <p:cNvPr id="9" name="Shape 6"/>
          <p:cNvSpPr/>
          <p:nvPr/>
        </p:nvSpPr>
        <p:spPr>
          <a:xfrm>
            <a:off x="457200" y="1883664"/>
            <a:ext cx="5029200"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0" name="Shape 7"/>
          <p:cNvSpPr/>
          <p:nvPr/>
        </p:nvSpPr>
        <p:spPr>
          <a:xfrm>
            <a:off x="566928" y="1965960"/>
            <a:ext cx="384048" cy="384048"/>
          </a:xfrm>
          <a:prstGeom prst="ellipse">
            <a:avLst/>
          </a:prstGeom>
          <a:solidFill>
            <a:srgbClr val="C9861A"/>
          </a:solidFill>
          <a:ln w="12700">
            <a:solidFill>
              <a:srgbClr val="C9861A"/>
            </a:solidFill>
            <a:prstDash val="solid"/>
          </a:ln>
        </p:spPr>
      </p:sp>
      <p:pic>
        <p:nvPicPr>
          <p:cNvPr id="11" name="Image 1" descr="preencoded.png"/>
          <p:cNvPicPr>
            <a:picLocks noChangeAspect="1"/>
          </p:cNvPicPr>
          <p:nvPr/>
        </p:nvPicPr>
        <p:blipFill>
          <a:blip r:embed="rId4"/>
          <a:stretch>
            <a:fillRect/>
          </a:stretch>
        </p:blipFill>
        <p:spPr>
          <a:xfrm>
            <a:off x="662940" y="2061972"/>
            <a:ext cx="192024" cy="192024"/>
          </a:xfrm>
          <a:prstGeom prst="rect">
            <a:avLst/>
          </a:prstGeom>
        </p:spPr>
      </p:pic>
      <p:sp>
        <p:nvSpPr>
          <p:cNvPr id="12" name="Text 8"/>
          <p:cNvSpPr txBox="1"/>
          <p:nvPr/>
        </p:nvSpPr>
        <p:spPr>
          <a:xfrm>
            <a:off x="1097280" y="1929384"/>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CVD risk prediction model</a:t>
            </a:r>
            <a:endParaRPr lang="en-US" sz="1300" dirty="0"/>
          </a:p>
        </p:txBody>
      </p:sp>
      <p:sp>
        <p:nvSpPr>
          <p:cNvPr id="13" name="Text 9"/>
          <p:cNvSpPr txBox="1"/>
          <p:nvPr/>
        </p:nvSpPr>
        <p:spPr>
          <a:xfrm>
            <a:off x="1097280" y="2167128"/>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10-year cardiovascular risk score and category</a:t>
            </a:r>
            <a:endParaRPr lang="en-US" sz="1050" dirty="0"/>
          </a:p>
        </p:txBody>
      </p:sp>
      <p:sp>
        <p:nvSpPr>
          <p:cNvPr id="14" name="Shape 10"/>
          <p:cNvSpPr/>
          <p:nvPr/>
        </p:nvSpPr>
        <p:spPr>
          <a:xfrm>
            <a:off x="457200" y="2487168"/>
            <a:ext cx="5029200"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5" name="Shape 11"/>
          <p:cNvSpPr/>
          <p:nvPr/>
        </p:nvSpPr>
        <p:spPr>
          <a:xfrm>
            <a:off x="566928" y="2569464"/>
            <a:ext cx="384048" cy="384048"/>
          </a:xfrm>
          <a:prstGeom prst="ellipse">
            <a:avLst/>
          </a:prstGeom>
          <a:solidFill>
            <a:srgbClr val="C9861A"/>
          </a:solidFill>
          <a:ln w="12700">
            <a:solidFill>
              <a:srgbClr val="C9861A"/>
            </a:solidFill>
            <a:prstDash val="solid"/>
          </a:ln>
        </p:spPr>
      </p:sp>
      <p:pic>
        <p:nvPicPr>
          <p:cNvPr id="16" name="Image 2" descr="preencoded.png"/>
          <p:cNvPicPr>
            <a:picLocks noChangeAspect="1"/>
          </p:cNvPicPr>
          <p:nvPr/>
        </p:nvPicPr>
        <p:blipFill>
          <a:blip r:embed="rId5"/>
          <a:stretch>
            <a:fillRect/>
          </a:stretch>
        </p:blipFill>
        <p:spPr>
          <a:xfrm>
            <a:off x="662940" y="2665476"/>
            <a:ext cx="192024" cy="192024"/>
          </a:xfrm>
          <a:prstGeom prst="rect">
            <a:avLst/>
          </a:prstGeom>
        </p:spPr>
      </p:pic>
      <p:sp>
        <p:nvSpPr>
          <p:cNvPr id="17" name="Text 12"/>
          <p:cNvSpPr txBox="1"/>
          <p:nvPr/>
        </p:nvSpPr>
        <p:spPr>
          <a:xfrm>
            <a:off x="1097280" y="2532888"/>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Diabetes complication model</a:t>
            </a:r>
            <a:endParaRPr lang="en-US" sz="1300" dirty="0"/>
          </a:p>
        </p:txBody>
      </p:sp>
      <p:sp>
        <p:nvSpPr>
          <p:cNvPr id="18" name="Text 13"/>
          <p:cNvSpPr txBox="1"/>
          <p:nvPr/>
        </p:nvSpPr>
        <p:spPr>
          <a:xfrm>
            <a:off x="1097280" y="2770632"/>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Extends risk prediction to diabetes complications</a:t>
            </a:r>
            <a:endParaRPr lang="en-US" sz="1050" dirty="0"/>
          </a:p>
        </p:txBody>
      </p:sp>
      <p:sp>
        <p:nvSpPr>
          <p:cNvPr id="19" name="Shape 14"/>
          <p:cNvSpPr/>
          <p:nvPr/>
        </p:nvSpPr>
        <p:spPr>
          <a:xfrm>
            <a:off x="457200" y="3090672"/>
            <a:ext cx="5029200"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0" name="Shape 15"/>
          <p:cNvSpPr/>
          <p:nvPr/>
        </p:nvSpPr>
        <p:spPr>
          <a:xfrm>
            <a:off x="566928" y="3172968"/>
            <a:ext cx="384048" cy="384048"/>
          </a:xfrm>
          <a:prstGeom prst="ellipse">
            <a:avLst/>
          </a:prstGeom>
          <a:solidFill>
            <a:srgbClr val="C9861A"/>
          </a:solidFill>
          <a:ln w="12700">
            <a:solidFill>
              <a:srgbClr val="C9861A"/>
            </a:solidFill>
            <a:prstDash val="solid"/>
          </a:ln>
        </p:spPr>
      </p:sp>
      <p:pic>
        <p:nvPicPr>
          <p:cNvPr id="21" name="Image 3" descr="preencoded.png"/>
          <p:cNvPicPr>
            <a:picLocks noChangeAspect="1"/>
          </p:cNvPicPr>
          <p:nvPr/>
        </p:nvPicPr>
        <p:blipFill>
          <a:blip r:embed="rId6"/>
          <a:stretch>
            <a:fillRect/>
          </a:stretch>
        </p:blipFill>
        <p:spPr>
          <a:xfrm>
            <a:off x="662940" y="3268980"/>
            <a:ext cx="192024" cy="192024"/>
          </a:xfrm>
          <a:prstGeom prst="rect">
            <a:avLst/>
          </a:prstGeom>
        </p:spPr>
      </p:pic>
      <p:sp>
        <p:nvSpPr>
          <p:cNvPr id="22" name="Text 16"/>
          <p:cNvSpPr txBox="1"/>
          <p:nvPr/>
        </p:nvSpPr>
        <p:spPr>
          <a:xfrm>
            <a:off x="1097280" y="3136392"/>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SHAP explainability</a:t>
            </a:r>
            <a:endParaRPr lang="en-US" sz="1300" dirty="0"/>
          </a:p>
        </p:txBody>
      </p:sp>
      <p:sp>
        <p:nvSpPr>
          <p:cNvPr id="23" name="Text 17"/>
          <p:cNvSpPr txBox="1"/>
          <p:nvPr/>
        </p:nvSpPr>
        <p:spPr>
          <a:xfrm>
            <a:off x="1097280" y="3374136"/>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Shows how much each biomarker drives a patient’s risk</a:t>
            </a:r>
            <a:endParaRPr lang="en-US" sz="1050" dirty="0"/>
          </a:p>
        </p:txBody>
      </p:sp>
      <p:sp>
        <p:nvSpPr>
          <p:cNvPr id="24" name="Shape 18"/>
          <p:cNvSpPr/>
          <p:nvPr/>
        </p:nvSpPr>
        <p:spPr>
          <a:xfrm>
            <a:off x="457200" y="3694176"/>
            <a:ext cx="5029200"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5" name="Shape 19"/>
          <p:cNvSpPr/>
          <p:nvPr/>
        </p:nvSpPr>
        <p:spPr>
          <a:xfrm>
            <a:off x="566928" y="3776472"/>
            <a:ext cx="384048" cy="384048"/>
          </a:xfrm>
          <a:prstGeom prst="ellipse">
            <a:avLst/>
          </a:prstGeom>
          <a:solidFill>
            <a:srgbClr val="C9861A"/>
          </a:solidFill>
          <a:ln w="12700">
            <a:solidFill>
              <a:srgbClr val="C9861A"/>
            </a:solidFill>
            <a:prstDash val="solid"/>
          </a:ln>
        </p:spPr>
      </p:sp>
      <p:pic>
        <p:nvPicPr>
          <p:cNvPr id="26" name="Image 4" descr="preencoded.png"/>
          <p:cNvPicPr>
            <a:picLocks noChangeAspect="1"/>
          </p:cNvPicPr>
          <p:nvPr/>
        </p:nvPicPr>
        <p:blipFill>
          <a:blip r:embed="rId7"/>
          <a:stretch>
            <a:fillRect/>
          </a:stretch>
        </p:blipFill>
        <p:spPr>
          <a:xfrm>
            <a:off x="662940" y="3872484"/>
            <a:ext cx="192024" cy="192024"/>
          </a:xfrm>
          <a:prstGeom prst="rect">
            <a:avLst/>
          </a:prstGeom>
        </p:spPr>
      </p:pic>
      <p:sp>
        <p:nvSpPr>
          <p:cNvPr id="27" name="Text 20"/>
          <p:cNvSpPr txBox="1"/>
          <p:nvPr/>
        </p:nvSpPr>
        <p:spPr>
          <a:xfrm>
            <a:off x="1097280" y="3739896"/>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Model versioning</a:t>
            </a:r>
            <a:endParaRPr lang="en-US" sz="1300" dirty="0"/>
          </a:p>
        </p:txBody>
      </p:sp>
      <p:sp>
        <p:nvSpPr>
          <p:cNvPr id="28" name="Text 21"/>
          <p:cNvSpPr txBox="1"/>
          <p:nvPr/>
        </p:nvSpPr>
        <p:spPr>
          <a:xfrm>
            <a:off x="1097280" y="3977640"/>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Model registry tracks version and federated round</a:t>
            </a:r>
            <a:endParaRPr lang="en-US" sz="1050" dirty="0"/>
          </a:p>
        </p:txBody>
      </p:sp>
      <p:sp>
        <p:nvSpPr>
          <p:cNvPr id="29" name="Shape 22"/>
          <p:cNvSpPr/>
          <p:nvPr/>
        </p:nvSpPr>
        <p:spPr>
          <a:xfrm>
            <a:off x="5669280" y="1280160"/>
            <a:ext cx="3017520" cy="2962656"/>
          </a:xfrm>
          <a:prstGeom prst="rect">
            <a:avLst/>
          </a:prstGeom>
          <a:solidFill>
            <a:srgbClr val="0B2A35"/>
          </a:solidFill>
          <a:ln w="12700">
            <a:solidFill>
              <a:srgbClr val="0B2A35"/>
            </a:solidFill>
            <a:prstDash val="solid"/>
          </a:ln>
        </p:spPr>
      </p:sp>
      <p:sp>
        <p:nvSpPr>
          <p:cNvPr id="30" name="Text 23"/>
          <p:cNvSpPr txBox="1"/>
          <p:nvPr/>
        </p:nvSpPr>
        <p:spPr>
          <a:xfrm>
            <a:off x="5852160" y="1389888"/>
            <a:ext cx="2651760" cy="228600"/>
          </a:xfrm>
          <a:prstGeom prst="rect">
            <a:avLst/>
          </a:prstGeom>
          <a:noFill/>
          <a:ln/>
        </p:spPr>
        <p:txBody>
          <a:bodyPr wrap="square" lIns="0" tIns="0" rIns="0" bIns="0" rtlCol="0" anchor="ctr"/>
          <a:lstStyle/>
          <a:p>
            <a:pPr marL="0" indent="0">
              <a:buNone/>
            </a:pPr>
            <a:r>
              <a:rPr lang="en-US" sz="1050" b="1" kern="0" spc="200" dirty="0">
                <a:solidFill>
                  <a:srgbClr val="7FD1D8"/>
                </a:solidFill>
                <a:latin typeface="Calibri" pitchFamily="34" charset="0"/>
                <a:ea typeface="Calibri" pitchFamily="34" charset="-122"/>
                <a:cs typeface="Calibri" pitchFamily="34" charset="-120"/>
              </a:rPr>
              <a:t>OUTPUT SCREEN</a:t>
            </a:r>
            <a:endParaRPr lang="en-US" sz="1050" dirty="0"/>
          </a:p>
        </p:txBody>
      </p:sp>
      <p:sp>
        <p:nvSpPr>
          <p:cNvPr id="31" name="Text 24"/>
          <p:cNvSpPr txBox="1"/>
          <p:nvPr/>
        </p:nvSpPr>
        <p:spPr>
          <a:xfrm>
            <a:off x="5852160" y="1737360"/>
            <a:ext cx="265176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24.3%</a:t>
            </a:r>
            <a:endParaRPr lang="en-US" sz="2600" dirty="0"/>
          </a:p>
        </p:txBody>
      </p:sp>
      <p:sp>
        <p:nvSpPr>
          <p:cNvPr id="32" name="Text 25"/>
          <p:cNvSpPr txBox="1"/>
          <p:nvPr/>
        </p:nvSpPr>
        <p:spPr>
          <a:xfrm>
            <a:off x="5852160" y="2194560"/>
            <a:ext cx="2651760" cy="228600"/>
          </a:xfrm>
          <a:prstGeom prst="rect">
            <a:avLst/>
          </a:prstGeom>
          <a:noFill/>
          <a:ln/>
        </p:spPr>
        <p:txBody>
          <a:bodyPr wrap="square" lIns="0" tIns="0" rIns="0" bIns="0" rtlCol="0" anchor="ctr"/>
          <a:lstStyle/>
          <a:p>
            <a:pPr marL="0" indent="0">
              <a:buNone/>
            </a:pPr>
            <a:r>
              <a:rPr lang="en-US" sz="1050" dirty="0">
                <a:solidFill>
                  <a:srgbClr val="B7D3D8"/>
                </a:solidFill>
                <a:latin typeface="Calibri" pitchFamily="34" charset="0"/>
                <a:ea typeface="Calibri" pitchFamily="34" charset="-122"/>
                <a:cs typeface="Calibri" pitchFamily="34" charset="-120"/>
              </a:rPr>
              <a:t>10-year CVD risk, John Doe (P001)</a:t>
            </a:r>
            <a:endParaRPr lang="en-US" sz="1050" dirty="0"/>
          </a:p>
        </p:txBody>
      </p:sp>
      <p:sp>
        <p:nvSpPr>
          <p:cNvPr id="33" name="Text 26"/>
          <p:cNvSpPr txBox="1"/>
          <p:nvPr/>
        </p:nvSpPr>
        <p:spPr>
          <a:xfrm>
            <a:off x="5852160" y="2560320"/>
            <a:ext cx="265176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+8.2 / +6.1</a:t>
            </a:r>
            <a:endParaRPr lang="en-US" sz="2600" dirty="0"/>
          </a:p>
        </p:txBody>
      </p:sp>
      <p:sp>
        <p:nvSpPr>
          <p:cNvPr id="34" name="Text 27"/>
          <p:cNvSpPr txBox="1"/>
          <p:nvPr/>
        </p:nvSpPr>
        <p:spPr>
          <a:xfrm>
            <a:off x="5852160" y="3017520"/>
            <a:ext cx="2651760" cy="228600"/>
          </a:xfrm>
          <a:prstGeom prst="rect">
            <a:avLst/>
          </a:prstGeom>
          <a:noFill/>
          <a:ln/>
        </p:spPr>
        <p:txBody>
          <a:bodyPr wrap="square" lIns="0" tIns="0" rIns="0" bIns="0" rtlCol="0" anchor="ctr"/>
          <a:lstStyle/>
          <a:p>
            <a:pPr marL="0" indent="0">
              <a:buNone/>
            </a:pPr>
            <a:r>
              <a:rPr lang="en-US" sz="1050" dirty="0">
                <a:solidFill>
                  <a:srgbClr val="B7D3D8"/>
                </a:solidFill>
                <a:latin typeface="Calibri" pitchFamily="34" charset="0"/>
                <a:ea typeface="Calibri" pitchFamily="34" charset="-122"/>
                <a:cs typeface="Calibri" pitchFamily="34" charset="-120"/>
              </a:rPr>
              <a:t>SHAP: HbA1c and blood pressure</a:t>
            </a:r>
            <a:endParaRPr lang="en-US" sz="1050" dirty="0"/>
          </a:p>
        </p:txBody>
      </p:sp>
      <p:sp>
        <p:nvSpPr>
          <p:cNvPr id="35" name="Text 28"/>
          <p:cNvSpPr txBox="1"/>
          <p:nvPr/>
        </p:nvSpPr>
        <p:spPr>
          <a:xfrm>
            <a:off x="5852160" y="3383280"/>
            <a:ext cx="265176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Round 47</a:t>
            </a:r>
            <a:endParaRPr lang="en-US" sz="2600" dirty="0"/>
          </a:p>
        </p:txBody>
      </p:sp>
      <p:sp>
        <p:nvSpPr>
          <p:cNvPr id="36" name="Text 29"/>
          <p:cNvSpPr txBox="1"/>
          <p:nvPr/>
        </p:nvSpPr>
        <p:spPr>
          <a:xfrm>
            <a:off x="5852160" y="3840480"/>
            <a:ext cx="2651760" cy="228600"/>
          </a:xfrm>
          <a:prstGeom prst="rect">
            <a:avLst/>
          </a:prstGeom>
          <a:noFill/>
          <a:ln/>
        </p:spPr>
        <p:txBody>
          <a:bodyPr wrap="square" lIns="0" tIns="0" rIns="0" bIns="0" rtlCol="0" anchor="ctr"/>
          <a:lstStyle/>
          <a:p>
            <a:pPr marL="0" indent="0">
              <a:buNone/>
            </a:pPr>
            <a:r>
              <a:rPr lang="en-US" sz="1050" dirty="0">
                <a:solidFill>
                  <a:srgbClr val="B7D3D8"/>
                </a:solidFill>
                <a:latin typeface="Calibri" pitchFamily="34" charset="0"/>
                <a:ea typeface="Calibri" pitchFamily="34" charset="-122"/>
                <a:cs typeface="Calibri" pitchFamily="34" charset="-120"/>
              </a:rPr>
              <a:t>federated round in the demo</a:t>
            </a:r>
            <a:endParaRPr lang="en-US" sz="1050" dirty="0"/>
          </a:p>
        </p:txBody>
      </p:sp>
      <p:sp>
        <p:nvSpPr>
          <p:cNvPr id="37" name="Shape 30"/>
          <p:cNvSpPr/>
          <p:nvPr/>
        </p:nvSpPr>
        <p:spPr>
          <a:xfrm>
            <a:off x="457200" y="4389120"/>
            <a:ext cx="8229600" cy="457200"/>
          </a:xfrm>
          <a:prstGeom prst="rect">
            <a:avLst/>
          </a:prstGeom>
          <a:solidFill>
            <a:srgbClr val="FADAD0"/>
          </a:solidFill>
          <a:ln w="12700">
            <a:solidFill>
              <a:srgbClr val="FADAD0"/>
            </a:solidFill>
            <a:prstDash val="solid"/>
          </a:ln>
        </p:spPr>
      </p:sp>
      <p:sp>
        <p:nvSpPr>
          <p:cNvPr id="38" name="Text 31"/>
          <p:cNvSpPr txBox="1"/>
          <p:nvPr/>
        </p:nvSpPr>
        <p:spPr>
          <a:xfrm>
            <a:off x="640080" y="4389120"/>
            <a:ext cx="7863840" cy="457200"/>
          </a:xfrm>
          <a:prstGeom prst="rect">
            <a:avLst/>
          </a:prstGeom>
          <a:noFill/>
          <a:ln/>
        </p:spPr>
        <p:txBody>
          <a:bodyPr wrap="square" lIns="0" tIns="0" rIns="0" bIns="0" rtlCol="0" anchor="ctr"/>
          <a:lstStyle/>
          <a:p>
            <a:pPr marL="0" indent="0">
              <a:buNone/>
            </a:pPr>
            <a:r>
              <a:rPr lang="en-US" sz="1050" b="1" dirty="0">
                <a:solidFill>
                  <a:srgbClr val="E4572E"/>
                </a:solidFill>
                <a:latin typeface="Calibri" pitchFamily="34" charset="0"/>
                <a:ea typeface="Calibri" pitchFamily="34" charset="-122"/>
                <a:cs typeface="Calibri" pitchFamily="34" charset="-120"/>
              </a:rPr>
              <a:t>Scope: </a:t>
            </a:r>
            <a:r>
              <a:rPr lang="en-US" sz="1050" dirty="0">
                <a:solidFill>
                  <a:srgbClr val="1B2B34"/>
                </a:solidFill>
                <a:latin typeface="Calibri" pitchFamily="34" charset="0"/>
                <a:ea typeface="Calibri" pitchFamily="34" charset="-122"/>
                <a:cs typeface="Calibri" pitchFamily="34" charset="-120"/>
              </a:rPr>
              <a:t>federated training is simulated on 3 hospital nodes; cohorts, accuracy progression and per-patient risk/SHAP values are seeded demo values.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MILESTONE 3</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1B2B34"/>
                </a:solidFill>
                <a:latin typeface="Cambria" pitchFamily="34" charset="0"/>
                <a:ea typeface="Cambria" pitchFamily="34" charset="-122"/>
                <a:cs typeface="Cambria" pitchFamily="34" charset="-120"/>
              </a:rPr>
              <a:t>Continuous Monitoring &amp; Alerts</a:t>
            </a:r>
            <a:endParaRPr lang="en-US" sz="3200" dirty="0"/>
          </a:p>
        </p:txBody>
      </p:sp>
      <p:sp>
        <p:nvSpPr>
          <p:cNvPr id="4" name="Shape 2"/>
          <p:cNvSpPr/>
          <p:nvPr/>
        </p:nvSpPr>
        <p:spPr>
          <a:xfrm>
            <a:off x="457200" y="1280160"/>
            <a:ext cx="1463040" cy="19659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 name="Shape 3"/>
          <p:cNvSpPr/>
          <p:nvPr/>
        </p:nvSpPr>
        <p:spPr>
          <a:xfrm>
            <a:off x="640080" y="1417320"/>
            <a:ext cx="457200" cy="457200"/>
          </a:xfrm>
          <a:prstGeom prst="ellipse">
            <a:avLst/>
          </a:prstGeom>
          <a:solidFill>
            <a:srgbClr val="E4572E"/>
          </a:solidFill>
          <a:ln w="12700">
            <a:solidFill>
              <a:srgbClr val="E4572E"/>
            </a:solidFill>
            <a:prstDash val="solid"/>
          </a:ln>
        </p:spPr>
      </p:sp>
      <p:pic>
        <p:nvPicPr>
          <p:cNvPr id="6" name="Image 0" descr="preencoded.png"/>
          <p:cNvPicPr>
            <a:picLocks noChangeAspect="1"/>
          </p:cNvPicPr>
          <p:nvPr/>
        </p:nvPicPr>
        <p:blipFill>
          <a:blip r:embed="rId3"/>
          <a:stretch>
            <a:fillRect/>
          </a:stretch>
        </p:blipFill>
        <p:spPr>
          <a:xfrm>
            <a:off x="754380" y="1531620"/>
            <a:ext cx="228600" cy="228600"/>
          </a:xfrm>
          <a:prstGeom prst="rect">
            <a:avLst/>
          </a:prstGeom>
        </p:spPr>
      </p:pic>
      <p:sp>
        <p:nvSpPr>
          <p:cNvPr id="7" name="Text 4"/>
          <p:cNvSpPr txBox="1"/>
          <p:nvPr/>
        </p:nvSpPr>
        <p:spPr>
          <a:xfrm>
            <a:off x="594360" y="1965960"/>
            <a:ext cx="1188720" cy="502920"/>
          </a:xfrm>
          <a:prstGeom prst="rect">
            <a:avLst/>
          </a:prstGeom>
          <a:noFill/>
          <a:ln/>
        </p:spPr>
        <p:txBody>
          <a:bodyPr wrap="square" lIns="0" tIns="0" rIns="0" bIns="0" rtlCol="0" anchor="t"/>
          <a:lstStyle/>
          <a:p>
            <a:pPr marL="0" indent="0">
              <a:buNone/>
            </a:pPr>
            <a:r>
              <a:rPr lang="en-US" sz="1200" b="1" dirty="0">
                <a:solidFill>
                  <a:srgbClr val="1B2B34"/>
                </a:solidFill>
                <a:latin typeface="Calibri" pitchFamily="34" charset="0"/>
                <a:ea typeface="Calibri" pitchFamily="34" charset="-122"/>
                <a:cs typeface="Calibri" pitchFamily="34" charset="-120"/>
              </a:rPr>
              <a:t>Wearable device integration</a:t>
            </a:r>
            <a:endParaRPr lang="en-US" sz="1200" dirty="0"/>
          </a:p>
        </p:txBody>
      </p:sp>
      <p:sp>
        <p:nvSpPr>
          <p:cNvPr id="8" name="Text 5"/>
          <p:cNvSpPr txBox="1"/>
          <p:nvPr/>
        </p:nvSpPr>
        <p:spPr>
          <a:xfrm>
            <a:off x="594360" y="2514600"/>
            <a:ext cx="1188720" cy="685800"/>
          </a:xfrm>
          <a:prstGeom prst="rect">
            <a:avLst/>
          </a:prstGeom>
          <a:noFill/>
          <a:ln/>
        </p:spPr>
        <p:txBody>
          <a:bodyPr wrap="square" lIns="0" tIns="0" rIns="0" bIns="0" rtlCol="0" anchor="t"/>
          <a:lstStyle/>
          <a:p>
            <a:pPr marL="0" indent="0">
              <a:buNone/>
            </a:pPr>
            <a:r>
              <a:rPr lang="en-US" sz="1000" dirty="0">
                <a:solidFill>
                  <a:srgbClr val="5B6E78"/>
                </a:solidFill>
                <a:latin typeface="Calibri" pitchFamily="34" charset="0"/>
                <a:ea typeface="Calibri" pitchFamily="34" charset="-122"/>
                <a:cs typeface="Calibri" pitchFamily="34" charset="-120"/>
              </a:rPr>
              <a:t>Simulated devices stream vitals every 2.5 s</a:t>
            </a:r>
            <a:endParaRPr lang="en-US" sz="1000" dirty="0"/>
          </a:p>
        </p:txBody>
      </p:sp>
      <p:sp>
        <p:nvSpPr>
          <p:cNvPr id="9" name="Shape 6"/>
          <p:cNvSpPr/>
          <p:nvPr/>
        </p:nvSpPr>
        <p:spPr>
          <a:xfrm>
            <a:off x="1920240" y="2286000"/>
            <a:ext cx="228600" cy="0"/>
          </a:xfrm>
          <a:prstGeom prst="line">
            <a:avLst/>
          </a:prstGeom>
          <a:noFill/>
          <a:ln w="19050">
            <a:solidFill>
              <a:srgbClr val="5B6E78"/>
            </a:solidFill>
            <a:prstDash val="solid"/>
            <a:tailEnd type="triangle"/>
          </a:ln>
        </p:spPr>
      </p:sp>
      <p:sp>
        <p:nvSpPr>
          <p:cNvPr id="10" name="Shape 7"/>
          <p:cNvSpPr/>
          <p:nvPr/>
        </p:nvSpPr>
        <p:spPr>
          <a:xfrm>
            <a:off x="2148840" y="1280160"/>
            <a:ext cx="1463040" cy="19659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1" name="Shape 8"/>
          <p:cNvSpPr/>
          <p:nvPr/>
        </p:nvSpPr>
        <p:spPr>
          <a:xfrm>
            <a:off x="2331720" y="1417320"/>
            <a:ext cx="457200" cy="457200"/>
          </a:xfrm>
          <a:prstGeom prst="ellipse">
            <a:avLst/>
          </a:prstGeom>
          <a:solidFill>
            <a:srgbClr val="0E7C86"/>
          </a:solidFill>
          <a:ln w="12700">
            <a:solidFill>
              <a:srgbClr val="0E7C86"/>
            </a:solidFill>
            <a:prstDash val="solid"/>
          </a:ln>
        </p:spPr>
      </p:sp>
      <p:pic>
        <p:nvPicPr>
          <p:cNvPr id="12" name="Image 1" descr="preencoded.png"/>
          <p:cNvPicPr>
            <a:picLocks noChangeAspect="1"/>
          </p:cNvPicPr>
          <p:nvPr/>
        </p:nvPicPr>
        <p:blipFill>
          <a:blip r:embed="rId4"/>
          <a:stretch>
            <a:fillRect/>
          </a:stretch>
        </p:blipFill>
        <p:spPr>
          <a:xfrm>
            <a:off x="2446020" y="1531620"/>
            <a:ext cx="228600" cy="228600"/>
          </a:xfrm>
          <a:prstGeom prst="rect">
            <a:avLst/>
          </a:prstGeom>
        </p:spPr>
      </p:pic>
      <p:sp>
        <p:nvSpPr>
          <p:cNvPr id="13" name="Text 9"/>
          <p:cNvSpPr txBox="1"/>
          <p:nvPr/>
        </p:nvSpPr>
        <p:spPr>
          <a:xfrm>
            <a:off x="2286000" y="1965960"/>
            <a:ext cx="1188720" cy="502920"/>
          </a:xfrm>
          <a:prstGeom prst="rect">
            <a:avLst/>
          </a:prstGeom>
          <a:noFill/>
          <a:ln/>
        </p:spPr>
        <p:txBody>
          <a:bodyPr wrap="square" lIns="0" tIns="0" rIns="0" bIns="0" rtlCol="0" anchor="t"/>
          <a:lstStyle/>
          <a:p>
            <a:pPr marL="0" indent="0">
              <a:buNone/>
            </a:pPr>
            <a:r>
              <a:rPr lang="en-US" sz="1200" b="1" dirty="0">
                <a:solidFill>
                  <a:srgbClr val="1B2B34"/>
                </a:solidFill>
                <a:latin typeface="Calibri" pitchFamily="34" charset="0"/>
                <a:ea typeface="Calibri" pitchFamily="34" charset="-122"/>
                <a:cs typeface="Calibri" pitchFamily="34" charset="-120"/>
              </a:rPr>
              <a:t>Kafka streams anomaly detection</a:t>
            </a:r>
            <a:endParaRPr lang="en-US" sz="1200" dirty="0"/>
          </a:p>
        </p:txBody>
      </p:sp>
      <p:sp>
        <p:nvSpPr>
          <p:cNvPr id="14" name="Text 10"/>
          <p:cNvSpPr txBox="1"/>
          <p:nvPr/>
        </p:nvSpPr>
        <p:spPr>
          <a:xfrm>
            <a:off x="2286000" y="2514600"/>
            <a:ext cx="1188720" cy="685800"/>
          </a:xfrm>
          <a:prstGeom prst="rect">
            <a:avLst/>
          </a:prstGeom>
          <a:noFill/>
          <a:ln/>
        </p:spPr>
        <p:txBody>
          <a:bodyPr wrap="square" lIns="0" tIns="0" rIns="0" bIns="0" rtlCol="0" anchor="t"/>
          <a:lstStyle/>
          <a:p>
            <a:pPr marL="0" indent="0">
              <a:buNone/>
            </a:pPr>
            <a:r>
              <a:rPr lang="en-US" sz="1000" dirty="0">
                <a:solidFill>
                  <a:srgbClr val="5B6E78"/>
                </a:solidFill>
                <a:latin typeface="Calibri" pitchFamily="34" charset="0"/>
                <a:ea typeface="Calibri" pitchFamily="34" charset="-122"/>
                <a:cs typeface="Calibri" pitchFamily="34" charset="-120"/>
              </a:rPr>
              <a:t>20-sample window, Z-score and SQI filter flag possible AFib</a:t>
            </a:r>
            <a:endParaRPr lang="en-US" sz="1000" dirty="0"/>
          </a:p>
        </p:txBody>
      </p:sp>
      <p:sp>
        <p:nvSpPr>
          <p:cNvPr id="15" name="Shape 11"/>
          <p:cNvSpPr/>
          <p:nvPr/>
        </p:nvSpPr>
        <p:spPr>
          <a:xfrm>
            <a:off x="3611880" y="2286000"/>
            <a:ext cx="228600" cy="0"/>
          </a:xfrm>
          <a:prstGeom prst="line">
            <a:avLst/>
          </a:prstGeom>
          <a:noFill/>
          <a:ln w="19050">
            <a:solidFill>
              <a:srgbClr val="5B6E78"/>
            </a:solidFill>
            <a:prstDash val="solid"/>
            <a:tailEnd type="triangle"/>
          </a:ln>
        </p:spPr>
      </p:sp>
      <p:sp>
        <p:nvSpPr>
          <p:cNvPr id="16" name="Shape 12"/>
          <p:cNvSpPr/>
          <p:nvPr/>
        </p:nvSpPr>
        <p:spPr>
          <a:xfrm>
            <a:off x="3840480" y="1280160"/>
            <a:ext cx="1463040" cy="19659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7" name="Shape 13"/>
          <p:cNvSpPr/>
          <p:nvPr/>
        </p:nvSpPr>
        <p:spPr>
          <a:xfrm>
            <a:off x="4023360" y="1417320"/>
            <a:ext cx="457200" cy="457200"/>
          </a:xfrm>
          <a:prstGeom prst="ellipse">
            <a:avLst/>
          </a:prstGeom>
          <a:solidFill>
            <a:srgbClr val="E4572E"/>
          </a:solidFill>
          <a:ln w="12700">
            <a:solidFill>
              <a:srgbClr val="E4572E"/>
            </a:solidFill>
            <a:prstDash val="solid"/>
          </a:ln>
        </p:spPr>
      </p:sp>
      <p:pic>
        <p:nvPicPr>
          <p:cNvPr id="18" name="Image 2" descr="preencoded.png"/>
          <p:cNvPicPr>
            <a:picLocks noChangeAspect="1"/>
          </p:cNvPicPr>
          <p:nvPr/>
        </p:nvPicPr>
        <p:blipFill>
          <a:blip r:embed="rId5"/>
          <a:stretch>
            <a:fillRect/>
          </a:stretch>
        </p:blipFill>
        <p:spPr>
          <a:xfrm>
            <a:off x="4137660" y="1531620"/>
            <a:ext cx="228600" cy="228600"/>
          </a:xfrm>
          <a:prstGeom prst="rect">
            <a:avLst/>
          </a:prstGeom>
        </p:spPr>
      </p:pic>
      <p:sp>
        <p:nvSpPr>
          <p:cNvPr id="19" name="Text 14"/>
          <p:cNvSpPr txBox="1"/>
          <p:nvPr/>
        </p:nvSpPr>
        <p:spPr>
          <a:xfrm>
            <a:off x="3977640" y="1965960"/>
            <a:ext cx="1188720" cy="502920"/>
          </a:xfrm>
          <a:prstGeom prst="rect">
            <a:avLst/>
          </a:prstGeom>
          <a:noFill/>
          <a:ln/>
        </p:spPr>
        <p:txBody>
          <a:bodyPr wrap="square" lIns="0" tIns="0" rIns="0" bIns="0" rtlCol="0" anchor="t"/>
          <a:lstStyle/>
          <a:p>
            <a:pPr marL="0" indent="0">
              <a:buNone/>
            </a:pPr>
            <a:r>
              <a:rPr lang="en-US" sz="1200" b="1" dirty="0">
                <a:solidFill>
                  <a:srgbClr val="1B2B34"/>
                </a:solidFill>
                <a:latin typeface="Calibri" pitchFamily="34" charset="0"/>
                <a:ea typeface="Calibri" pitchFamily="34" charset="-122"/>
                <a:cs typeface="Calibri" pitchFamily="34" charset="-120"/>
              </a:rPr>
              <a:t>Real-time alert engine</a:t>
            </a:r>
            <a:endParaRPr lang="en-US" sz="1200" dirty="0"/>
          </a:p>
        </p:txBody>
      </p:sp>
      <p:sp>
        <p:nvSpPr>
          <p:cNvPr id="20" name="Text 15"/>
          <p:cNvSpPr txBox="1"/>
          <p:nvPr/>
        </p:nvSpPr>
        <p:spPr>
          <a:xfrm>
            <a:off x="3977640" y="2514600"/>
            <a:ext cx="1188720" cy="685800"/>
          </a:xfrm>
          <a:prstGeom prst="rect">
            <a:avLst/>
          </a:prstGeom>
          <a:noFill/>
          <a:ln/>
        </p:spPr>
        <p:txBody>
          <a:bodyPr wrap="square" lIns="0" tIns="0" rIns="0" bIns="0" rtlCol="0" anchor="t"/>
          <a:lstStyle/>
          <a:p>
            <a:pPr marL="0" indent="0">
              <a:buNone/>
            </a:pPr>
            <a:r>
              <a:rPr lang="en-US" sz="1000" dirty="0">
                <a:solidFill>
                  <a:srgbClr val="5B6E78"/>
                </a:solidFill>
                <a:latin typeface="Calibri" pitchFamily="34" charset="0"/>
                <a:ea typeface="Calibri" pitchFamily="34" charset="-122"/>
                <a:cs typeface="Calibri" pitchFamily="34" charset="-120"/>
              </a:rPr>
              <a:t>Creates the alert and a 3.2-minute SLA deadline</a:t>
            </a:r>
            <a:endParaRPr lang="en-US" sz="1000" dirty="0"/>
          </a:p>
        </p:txBody>
      </p:sp>
      <p:sp>
        <p:nvSpPr>
          <p:cNvPr id="21" name="Shape 16"/>
          <p:cNvSpPr/>
          <p:nvPr/>
        </p:nvSpPr>
        <p:spPr>
          <a:xfrm>
            <a:off x="5303520" y="2286000"/>
            <a:ext cx="228600" cy="0"/>
          </a:xfrm>
          <a:prstGeom prst="line">
            <a:avLst/>
          </a:prstGeom>
          <a:noFill/>
          <a:ln w="19050">
            <a:solidFill>
              <a:srgbClr val="5B6E78"/>
            </a:solidFill>
            <a:prstDash val="solid"/>
            <a:tailEnd type="triangle"/>
          </a:ln>
        </p:spPr>
      </p:sp>
      <p:sp>
        <p:nvSpPr>
          <p:cNvPr id="22" name="Shape 17"/>
          <p:cNvSpPr/>
          <p:nvPr/>
        </p:nvSpPr>
        <p:spPr>
          <a:xfrm>
            <a:off x="5532120" y="1280160"/>
            <a:ext cx="1463040" cy="19659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3" name="Shape 18"/>
          <p:cNvSpPr/>
          <p:nvPr/>
        </p:nvSpPr>
        <p:spPr>
          <a:xfrm>
            <a:off x="5715000" y="1417320"/>
            <a:ext cx="457200" cy="457200"/>
          </a:xfrm>
          <a:prstGeom prst="ellipse">
            <a:avLst/>
          </a:prstGeom>
          <a:solidFill>
            <a:srgbClr val="0E7C86"/>
          </a:solidFill>
          <a:ln w="12700">
            <a:solidFill>
              <a:srgbClr val="0E7C86"/>
            </a:solidFill>
            <a:prstDash val="solid"/>
          </a:ln>
        </p:spPr>
      </p:sp>
      <p:pic>
        <p:nvPicPr>
          <p:cNvPr id="24" name="Image 3" descr="preencoded.png"/>
          <p:cNvPicPr>
            <a:picLocks noChangeAspect="1"/>
          </p:cNvPicPr>
          <p:nvPr/>
        </p:nvPicPr>
        <p:blipFill>
          <a:blip r:embed="rId6"/>
          <a:stretch>
            <a:fillRect/>
          </a:stretch>
        </p:blipFill>
        <p:spPr>
          <a:xfrm>
            <a:off x="5829300" y="1531620"/>
            <a:ext cx="228600" cy="228600"/>
          </a:xfrm>
          <a:prstGeom prst="rect">
            <a:avLst/>
          </a:prstGeom>
        </p:spPr>
      </p:pic>
      <p:sp>
        <p:nvSpPr>
          <p:cNvPr id="25" name="Text 19"/>
          <p:cNvSpPr txBox="1"/>
          <p:nvPr/>
        </p:nvSpPr>
        <p:spPr>
          <a:xfrm>
            <a:off x="5669280" y="1965960"/>
            <a:ext cx="1188720" cy="502920"/>
          </a:xfrm>
          <a:prstGeom prst="rect">
            <a:avLst/>
          </a:prstGeom>
          <a:noFill/>
          <a:ln/>
        </p:spPr>
        <p:txBody>
          <a:bodyPr wrap="square" lIns="0" tIns="0" rIns="0" bIns="0" rtlCol="0" anchor="t"/>
          <a:lstStyle/>
          <a:p>
            <a:pPr marL="0" indent="0">
              <a:buNone/>
            </a:pPr>
            <a:r>
              <a:rPr lang="en-US" sz="1200" b="1" dirty="0">
                <a:solidFill>
                  <a:srgbClr val="1B2B34"/>
                </a:solidFill>
                <a:latin typeface="Calibri" pitchFamily="34" charset="0"/>
                <a:ea typeface="Calibri" pitchFamily="34" charset="-122"/>
                <a:cs typeface="Calibri" pitchFamily="34" charset="-120"/>
              </a:rPr>
              <a:t>Clinical rule engine</a:t>
            </a:r>
            <a:endParaRPr lang="en-US" sz="1200" dirty="0"/>
          </a:p>
        </p:txBody>
      </p:sp>
      <p:sp>
        <p:nvSpPr>
          <p:cNvPr id="26" name="Text 20"/>
          <p:cNvSpPr txBox="1"/>
          <p:nvPr/>
        </p:nvSpPr>
        <p:spPr>
          <a:xfrm>
            <a:off x="5669280" y="2514600"/>
            <a:ext cx="1188720" cy="685800"/>
          </a:xfrm>
          <a:prstGeom prst="rect">
            <a:avLst/>
          </a:prstGeom>
          <a:noFill/>
          <a:ln/>
        </p:spPr>
        <p:txBody>
          <a:bodyPr wrap="square" lIns="0" tIns="0" rIns="0" bIns="0" rtlCol="0" anchor="t"/>
          <a:lstStyle/>
          <a:p>
            <a:pPr marL="0" indent="0">
              <a:buNone/>
            </a:pPr>
            <a:r>
              <a:rPr lang="en-US" sz="1000" dirty="0">
                <a:solidFill>
                  <a:srgbClr val="5B6E78"/>
                </a:solidFill>
                <a:latin typeface="Calibri" pitchFamily="34" charset="0"/>
                <a:ea typeface="Calibri" pitchFamily="34" charset="-122"/>
                <a:cs typeface="Calibri" pitchFamily="34" charset="-120"/>
              </a:rPr>
              <a:t>Vitals are checked against clinical protocols</a:t>
            </a:r>
            <a:endParaRPr lang="en-US" sz="1000" dirty="0"/>
          </a:p>
        </p:txBody>
      </p:sp>
      <p:sp>
        <p:nvSpPr>
          <p:cNvPr id="27" name="Shape 21"/>
          <p:cNvSpPr/>
          <p:nvPr/>
        </p:nvSpPr>
        <p:spPr>
          <a:xfrm>
            <a:off x="6995160" y="2286000"/>
            <a:ext cx="228600" cy="0"/>
          </a:xfrm>
          <a:prstGeom prst="line">
            <a:avLst/>
          </a:prstGeom>
          <a:noFill/>
          <a:ln w="19050">
            <a:solidFill>
              <a:srgbClr val="5B6E78"/>
            </a:solidFill>
            <a:prstDash val="solid"/>
            <a:tailEnd type="triangle"/>
          </a:ln>
        </p:spPr>
      </p:sp>
      <p:sp>
        <p:nvSpPr>
          <p:cNvPr id="28" name="Shape 22"/>
          <p:cNvSpPr/>
          <p:nvPr/>
        </p:nvSpPr>
        <p:spPr>
          <a:xfrm>
            <a:off x="7223760" y="1280160"/>
            <a:ext cx="1463040" cy="196596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9" name="Shape 23"/>
          <p:cNvSpPr/>
          <p:nvPr/>
        </p:nvSpPr>
        <p:spPr>
          <a:xfrm>
            <a:off x="7406640" y="1417320"/>
            <a:ext cx="457200" cy="457200"/>
          </a:xfrm>
          <a:prstGeom prst="ellipse">
            <a:avLst/>
          </a:prstGeom>
          <a:solidFill>
            <a:srgbClr val="C9861A"/>
          </a:solidFill>
          <a:ln w="12700">
            <a:solidFill>
              <a:srgbClr val="C9861A"/>
            </a:solidFill>
            <a:prstDash val="solid"/>
          </a:ln>
        </p:spPr>
      </p:sp>
      <p:pic>
        <p:nvPicPr>
          <p:cNvPr id="30" name="Image 4" descr="preencoded.png"/>
          <p:cNvPicPr>
            <a:picLocks noChangeAspect="1"/>
          </p:cNvPicPr>
          <p:nvPr/>
        </p:nvPicPr>
        <p:blipFill>
          <a:blip r:embed="rId7"/>
          <a:stretch>
            <a:fillRect/>
          </a:stretch>
        </p:blipFill>
        <p:spPr>
          <a:xfrm>
            <a:off x="7520940" y="1531620"/>
            <a:ext cx="228600" cy="228600"/>
          </a:xfrm>
          <a:prstGeom prst="rect">
            <a:avLst/>
          </a:prstGeom>
        </p:spPr>
      </p:pic>
      <p:sp>
        <p:nvSpPr>
          <p:cNvPr id="31" name="Text 24"/>
          <p:cNvSpPr txBox="1"/>
          <p:nvPr/>
        </p:nvSpPr>
        <p:spPr>
          <a:xfrm>
            <a:off x="7360920" y="1965960"/>
            <a:ext cx="1188720" cy="502920"/>
          </a:xfrm>
          <a:prstGeom prst="rect">
            <a:avLst/>
          </a:prstGeom>
          <a:noFill/>
          <a:ln/>
        </p:spPr>
        <p:txBody>
          <a:bodyPr wrap="square" lIns="0" tIns="0" rIns="0" bIns="0" rtlCol="0" anchor="t"/>
          <a:lstStyle/>
          <a:p>
            <a:pPr marL="0" indent="0">
              <a:buNone/>
            </a:pPr>
            <a:r>
              <a:rPr lang="en-US" sz="1200" b="1" dirty="0">
                <a:solidFill>
                  <a:srgbClr val="1B2B34"/>
                </a:solidFill>
                <a:latin typeface="Calibri" pitchFamily="34" charset="0"/>
                <a:ea typeface="Calibri" pitchFamily="34" charset="-122"/>
                <a:cs typeface="Calibri" pitchFamily="34" charset="-120"/>
              </a:rPr>
              <a:t>Mobile notifications</a:t>
            </a:r>
            <a:endParaRPr lang="en-US" sz="1200" dirty="0"/>
          </a:p>
        </p:txBody>
      </p:sp>
      <p:sp>
        <p:nvSpPr>
          <p:cNvPr id="32" name="Text 25"/>
          <p:cNvSpPr txBox="1"/>
          <p:nvPr/>
        </p:nvSpPr>
        <p:spPr>
          <a:xfrm>
            <a:off x="7360920" y="2514600"/>
            <a:ext cx="1188720" cy="685800"/>
          </a:xfrm>
          <a:prstGeom prst="rect">
            <a:avLst/>
          </a:prstGeom>
          <a:noFill/>
          <a:ln/>
        </p:spPr>
        <p:txBody>
          <a:bodyPr wrap="square" lIns="0" tIns="0" rIns="0" bIns="0" rtlCol="0" anchor="t"/>
          <a:lstStyle/>
          <a:p>
            <a:pPr marL="0" indent="0">
              <a:buNone/>
            </a:pPr>
            <a:r>
              <a:rPr lang="en-US" sz="1000" dirty="0">
                <a:solidFill>
                  <a:srgbClr val="5B6E78"/>
                </a:solidFill>
                <a:latin typeface="Calibri" pitchFamily="34" charset="0"/>
                <a:ea typeface="Calibri" pitchFamily="34" charset="-122"/>
                <a:cs typeface="Calibri" pitchFamily="34" charset="-120"/>
              </a:rPr>
              <a:t>Phone pager with chime; claiming stops the SLA clock</a:t>
            </a:r>
            <a:endParaRPr lang="en-US" sz="1000" dirty="0"/>
          </a:p>
        </p:txBody>
      </p:sp>
      <p:sp>
        <p:nvSpPr>
          <p:cNvPr id="33" name="Shape 26"/>
          <p:cNvSpPr/>
          <p:nvPr/>
        </p:nvSpPr>
        <p:spPr>
          <a:xfrm>
            <a:off x="457200" y="3429000"/>
            <a:ext cx="8229600" cy="960120"/>
          </a:xfrm>
          <a:prstGeom prst="rect">
            <a:avLst/>
          </a:prstGeom>
          <a:solidFill>
            <a:srgbClr val="0B2A35"/>
          </a:solidFill>
          <a:ln w="12700">
            <a:solidFill>
              <a:srgbClr val="0B2A35"/>
            </a:solidFill>
            <a:prstDash val="solid"/>
          </a:ln>
        </p:spPr>
      </p:sp>
      <p:sp>
        <p:nvSpPr>
          <p:cNvPr id="34" name="Text 27"/>
          <p:cNvSpPr txBox="1"/>
          <p:nvPr/>
        </p:nvSpPr>
        <p:spPr>
          <a:xfrm>
            <a:off x="640080" y="3502152"/>
            <a:ext cx="7315200" cy="228600"/>
          </a:xfrm>
          <a:prstGeom prst="rect">
            <a:avLst/>
          </a:prstGeom>
          <a:noFill/>
          <a:ln/>
        </p:spPr>
        <p:txBody>
          <a:bodyPr wrap="square" lIns="0" tIns="0" rIns="0" bIns="0" rtlCol="0" anchor="ctr"/>
          <a:lstStyle/>
          <a:p>
            <a:pPr marL="0" indent="0">
              <a:buNone/>
            </a:pPr>
            <a:r>
              <a:rPr lang="en-US" sz="1050" b="1" kern="0" spc="200" dirty="0">
                <a:solidFill>
                  <a:srgbClr val="7FD1D8"/>
                </a:solidFill>
                <a:latin typeface="Calibri" pitchFamily="34" charset="0"/>
                <a:ea typeface="Calibri" pitchFamily="34" charset="-122"/>
                <a:cs typeface="Calibri" pitchFamily="34" charset="-120"/>
              </a:rPr>
              <a:t>DEMO SCENARIO </a:t>
            </a:r>
            <a:endParaRPr lang="en-US" sz="1050" dirty="0"/>
          </a:p>
        </p:txBody>
      </p:sp>
      <p:sp>
        <p:nvSpPr>
          <p:cNvPr id="35" name="Text 28"/>
          <p:cNvSpPr txBox="1"/>
          <p:nvPr/>
        </p:nvSpPr>
        <p:spPr>
          <a:xfrm>
            <a:off x="2240280" y="3730752"/>
            <a:ext cx="1691640" cy="5029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Heart rate 74 → 145 bpm</a:t>
            </a:r>
            <a:endParaRPr lang="en-US" sz="1100" dirty="0"/>
          </a:p>
        </p:txBody>
      </p:sp>
      <p:sp>
        <p:nvSpPr>
          <p:cNvPr id="38" name="Shape 31"/>
          <p:cNvSpPr/>
          <p:nvPr/>
        </p:nvSpPr>
        <p:spPr>
          <a:xfrm>
            <a:off x="4389120" y="4023360"/>
            <a:ext cx="228600" cy="0"/>
          </a:xfrm>
          <a:prstGeom prst="line">
            <a:avLst/>
          </a:prstGeom>
          <a:noFill/>
          <a:ln w="19050">
            <a:solidFill>
              <a:srgbClr val="7FD1D8"/>
            </a:solidFill>
            <a:prstDash val="solid"/>
            <a:tailEnd type="triangle"/>
          </a:ln>
        </p:spPr>
      </p:sp>
      <p:sp>
        <p:nvSpPr>
          <p:cNvPr id="39" name="Text 32"/>
          <p:cNvSpPr txBox="1"/>
          <p:nvPr/>
        </p:nvSpPr>
        <p:spPr>
          <a:xfrm>
            <a:off x="4663440" y="3776472"/>
            <a:ext cx="1691640" cy="502920"/>
          </a:xfrm>
          <a:prstGeom prst="rect">
            <a:avLst/>
          </a:prstGeom>
          <a:noFill/>
          <a:ln/>
        </p:spPr>
        <p:txBody>
          <a:bodyPr wrap="square" lIns="0" tIns="0" rIns="0" bIns="0" rtlCol="0" anchor="ctr"/>
          <a:lstStyle/>
          <a:p>
            <a:pPr marL="0" indent="0">
              <a:buNone/>
            </a:pPr>
            <a:endParaRPr lang="en-US" sz="1100" dirty="0"/>
          </a:p>
        </p:txBody>
      </p:sp>
      <p:sp>
        <p:nvSpPr>
          <p:cNvPr id="41" name="Text 34"/>
          <p:cNvSpPr txBox="1"/>
          <p:nvPr/>
        </p:nvSpPr>
        <p:spPr>
          <a:xfrm>
            <a:off x="5294107" y="3689604"/>
            <a:ext cx="1691640" cy="5029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Clinician claims it on mobile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MILESTONE 4</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1B2B34"/>
                </a:solidFill>
                <a:latin typeface="Cambria" pitchFamily="34" charset="0"/>
                <a:ea typeface="Cambria" pitchFamily="34" charset="-122"/>
                <a:cs typeface="Cambria" pitchFamily="34" charset="-120"/>
              </a:rPr>
              <a:t>Careplan &amp; Intervention</a:t>
            </a:r>
            <a:endParaRPr lang="en-US" sz="3200" dirty="0"/>
          </a:p>
        </p:txBody>
      </p:sp>
      <p:sp>
        <p:nvSpPr>
          <p:cNvPr id="4" name="Shape 2"/>
          <p:cNvSpPr/>
          <p:nvPr/>
        </p:nvSpPr>
        <p:spPr>
          <a:xfrm>
            <a:off x="457200" y="1280160"/>
            <a:ext cx="8119872"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 name="Shape 3"/>
          <p:cNvSpPr/>
          <p:nvPr/>
        </p:nvSpPr>
        <p:spPr>
          <a:xfrm>
            <a:off x="566928" y="1362456"/>
            <a:ext cx="384048" cy="384048"/>
          </a:xfrm>
          <a:prstGeom prst="ellipse">
            <a:avLst/>
          </a:prstGeom>
          <a:solidFill>
            <a:srgbClr val="0E7C86"/>
          </a:solidFill>
          <a:ln w="12700">
            <a:solidFill>
              <a:srgbClr val="0E7C86"/>
            </a:solidFill>
            <a:prstDash val="solid"/>
          </a:ln>
        </p:spPr>
      </p:sp>
      <p:pic>
        <p:nvPicPr>
          <p:cNvPr id="6" name="Image 0" descr="preencoded.png"/>
          <p:cNvPicPr>
            <a:picLocks noChangeAspect="1"/>
          </p:cNvPicPr>
          <p:nvPr/>
        </p:nvPicPr>
        <p:blipFill>
          <a:blip r:embed="rId3"/>
          <a:stretch>
            <a:fillRect/>
          </a:stretch>
        </p:blipFill>
        <p:spPr>
          <a:xfrm>
            <a:off x="662940" y="1458468"/>
            <a:ext cx="192024" cy="192024"/>
          </a:xfrm>
          <a:prstGeom prst="rect">
            <a:avLst/>
          </a:prstGeom>
        </p:spPr>
      </p:pic>
      <p:sp>
        <p:nvSpPr>
          <p:cNvPr id="7" name="Text 4"/>
          <p:cNvSpPr txBox="1"/>
          <p:nvPr/>
        </p:nvSpPr>
        <p:spPr>
          <a:xfrm>
            <a:off x="1097280" y="1325880"/>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AI careplan generator</a:t>
            </a:r>
            <a:endParaRPr lang="en-US" sz="1300" dirty="0"/>
          </a:p>
        </p:txBody>
      </p:sp>
      <p:sp>
        <p:nvSpPr>
          <p:cNvPr id="8" name="Text 5"/>
          <p:cNvSpPr txBox="1"/>
          <p:nvPr/>
        </p:nvSpPr>
        <p:spPr>
          <a:xfrm>
            <a:off x="1097280" y="1563624"/>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Builds a personalized plan from each patient’s risk prediction</a:t>
            </a:r>
            <a:endParaRPr lang="en-US" sz="1050" dirty="0"/>
          </a:p>
        </p:txBody>
      </p:sp>
      <p:sp>
        <p:nvSpPr>
          <p:cNvPr id="9" name="Shape 6"/>
          <p:cNvSpPr/>
          <p:nvPr/>
        </p:nvSpPr>
        <p:spPr>
          <a:xfrm>
            <a:off x="457200" y="1883664"/>
            <a:ext cx="8119872"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0" name="Shape 7"/>
          <p:cNvSpPr/>
          <p:nvPr/>
        </p:nvSpPr>
        <p:spPr>
          <a:xfrm>
            <a:off x="566928" y="1965960"/>
            <a:ext cx="384048" cy="384048"/>
          </a:xfrm>
          <a:prstGeom prst="ellipse">
            <a:avLst/>
          </a:prstGeom>
          <a:solidFill>
            <a:srgbClr val="0E7C86"/>
          </a:solidFill>
          <a:ln w="12700">
            <a:solidFill>
              <a:srgbClr val="0E7C86"/>
            </a:solidFill>
            <a:prstDash val="solid"/>
          </a:ln>
        </p:spPr>
      </p:sp>
      <p:pic>
        <p:nvPicPr>
          <p:cNvPr id="11" name="Image 1" descr="preencoded.png"/>
          <p:cNvPicPr>
            <a:picLocks noChangeAspect="1"/>
          </p:cNvPicPr>
          <p:nvPr/>
        </p:nvPicPr>
        <p:blipFill>
          <a:blip r:embed="rId4"/>
          <a:stretch>
            <a:fillRect/>
          </a:stretch>
        </p:blipFill>
        <p:spPr>
          <a:xfrm>
            <a:off x="662940" y="2061972"/>
            <a:ext cx="192024" cy="192024"/>
          </a:xfrm>
          <a:prstGeom prst="rect">
            <a:avLst/>
          </a:prstGeom>
        </p:spPr>
      </p:pic>
      <p:sp>
        <p:nvSpPr>
          <p:cNvPr id="12" name="Text 8"/>
          <p:cNvSpPr txBox="1"/>
          <p:nvPr/>
        </p:nvSpPr>
        <p:spPr>
          <a:xfrm>
            <a:off x="1097280" y="1929384"/>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Clinical guideline engine</a:t>
            </a:r>
            <a:endParaRPr lang="en-US" sz="1300" dirty="0"/>
          </a:p>
        </p:txBody>
      </p:sp>
      <p:sp>
        <p:nvSpPr>
          <p:cNvPr id="13" name="Text 9"/>
          <p:cNvSpPr txBox="1"/>
          <p:nvPr/>
        </p:nvSpPr>
        <p:spPr>
          <a:xfrm>
            <a:off x="1097280" y="2167128"/>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Checks generated plans against clinical guidelines</a:t>
            </a:r>
            <a:endParaRPr lang="en-US" sz="1050" dirty="0"/>
          </a:p>
        </p:txBody>
      </p:sp>
      <p:sp>
        <p:nvSpPr>
          <p:cNvPr id="14" name="Shape 10"/>
          <p:cNvSpPr/>
          <p:nvPr/>
        </p:nvSpPr>
        <p:spPr>
          <a:xfrm>
            <a:off x="457200" y="2487168"/>
            <a:ext cx="8119872"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5" name="Shape 11"/>
          <p:cNvSpPr/>
          <p:nvPr/>
        </p:nvSpPr>
        <p:spPr>
          <a:xfrm>
            <a:off x="566928" y="2569464"/>
            <a:ext cx="384048" cy="384048"/>
          </a:xfrm>
          <a:prstGeom prst="ellipse">
            <a:avLst/>
          </a:prstGeom>
          <a:solidFill>
            <a:srgbClr val="0E7C86"/>
          </a:solidFill>
          <a:ln w="12700">
            <a:solidFill>
              <a:srgbClr val="0E7C86"/>
            </a:solidFill>
            <a:prstDash val="solid"/>
          </a:ln>
        </p:spPr>
      </p:sp>
      <p:pic>
        <p:nvPicPr>
          <p:cNvPr id="16" name="Image 2" descr="preencoded.png"/>
          <p:cNvPicPr>
            <a:picLocks noChangeAspect="1"/>
          </p:cNvPicPr>
          <p:nvPr/>
        </p:nvPicPr>
        <p:blipFill>
          <a:blip r:embed="rId5"/>
          <a:stretch>
            <a:fillRect/>
          </a:stretch>
        </p:blipFill>
        <p:spPr>
          <a:xfrm>
            <a:off x="662940" y="2665476"/>
            <a:ext cx="192024" cy="192024"/>
          </a:xfrm>
          <a:prstGeom prst="rect">
            <a:avLst/>
          </a:prstGeom>
        </p:spPr>
      </p:pic>
      <p:sp>
        <p:nvSpPr>
          <p:cNvPr id="17" name="Text 12"/>
          <p:cNvSpPr txBox="1"/>
          <p:nvPr/>
        </p:nvSpPr>
        <p:spPr>
          <a:xfrm>
            <a:off x="1097280" y="2532888"/>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Adherence tracking</a:t>
            </a:r>
            <a:endParaRPr lang="en-US" sz="1300" dirty="0"/>
          </a:p>
        </p:txBody>
      </p:sp>
      <p:sp>
        <p:nvSpPr>
          <p:cNvPr id="18" name="Text 13"/>
          <p:cNvSpPr txBox="1"/>
          <p:nvPr/>
        </p:nvSpPr>
        <p:spPr>
          <a:xfrm>
            <a:off x="1097280" y="2770632"/>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Tracks how closely a patient follows the plan</a:t>
            </a:r>
            <a:endParaRPr lang="en-US" sz="1050" dirty="0"/>
          </a:p>
        </p:txBody>
      </p:sp>
      <p:sp>
        <p:nvSpPr>
          <p:cNvPr id="19" name="Shape 14"/>
          <p:cNvSpPr/>
          <p:nvPr/>
        </p:nvSpPr>
        <p:spPr>
          <a:xfrm>
            <a:off x="457200" y="3090672"/>
            <a:ext cx="8119872"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0" name="Shape 15"/>
          <p:cNvSpPr/>
          <p:nvPr/>
        </p:nvSpPr>
        <p:spPr>
          <a:xfrm>
            <a:off x="566928" y="3172968"/>
            <a:ext cx="384048" cy="384048"/>
          </a:xfrm>
          <a:prstGeom prst="ellipse">
            <a:avLst/>
          </a:prstGeom>
          <a:solidFill>
            <a:srgbClr val="0E7C86"/>
          </a:solidFill>
          <a:ln w="12700">
            <a:solidFill>
              <a:srgbClr val="0E7C86"/>
            </a:solidFill>
            <a:prstDash val="solid"/>
          </a:ln>
        </p:spPr>
      </p:sp>
      <p:pic>
        <p:nvPicPr>
          <p:cNvPr id="21" name="Image 3" descr="preencoded.png"/>
          <p:cNvPicPr>
            <a:picLocks noChangeAspect="1"/>
          </p:cNvPicPr>
          <p:nvPr/>
        </p:nvPicPr>
        <p:blipFill>
          <a:blip r:embed="rId6"/>
          <a:stretch>
            <a:fillRect/>
          </a:stretch>
        </p:blipFill>
        <p:spPr>
          <a:xfrm>
            <a:off x="662940" y="3268980"/>
            <a:ext cx="192024" cy="192024"/>
          </a:xfrm>
          <a:prstGeom prst="rect">
            <a:avLst/>
          </a:prstGeom>
        </p:spPr>
      </p:pic>
      <p:sp>
        <p:nvSpPr>
          <p:cNvPr id="22" name="Text 16"/>
          <p:cNvSpPr txBox="1"/>
          <p:nvPr/>
        </p:nvSpPr>
        <p:spPr>
          <a:xfrm>
            <a:off x="1097280" y="3136392"/>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Outcome measurement</a:t>
            </a:r>
            <a:endParaRPr lang="en-US" sz="1300" dirty="0"/>
          </a:p>
        </p:txBody>
      </p:sp>
      <p:sp>
        <p:nvSpPr>
          <p:cNvPr id="23" name="Text 17"/>
          <p:cNvSpPr txBox="1"/>
          <p:nvPr/>
        </p:nvSpPr>
        <p:spPr>
          <a:xfrm>
            <a:off x="1097280" y="3374136"/>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Compares predicted risk before and after the plan</a:t>
            </a:r>
            <a:endParaRPr lang="en-US" sz="1050" dirty="0"/>
          </a:p>
        </p:txBody>
      </p:sp>
      <p:sp>
        <p:nvSpPr>
          <p:cNvPr id="24" name="Shape 18"/>
          <p:cNvSpPr/>
          <p:nvPr/>
        </p:nvSpPr>
        <p:spPr>
          <a:xfrm>
            <a:off x="457200" y="3694176"/>
            <a:ext cx="8119872" cy="54864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5" name="Shape 19"/>
          <p:cNvSpPr/>
          <p:nvPr/>
        </p:nvSpPr>
        <p:spPr>
          <a:xfrm>
            <a:off x="566928" y="3776472"/>
            <a:ext cx="384048" cy="384048"/>
          </a:xfrm>
          <a:prstGeom prst="ellipse">
            <a:avLst/>
          </a:prstGeom>
          <a:solidFill>
            <a:srgbClr val="0E7C86"/>
          </a:solidFill>
          <a:ln w="12700">
            <a:solidFill>
              <a:srgbClr val="0E7C86"/>
            </a:solidFill>
            <a:prstDash val="solid"/>
          </a:ln>
        </p:spPr>
      </p:sp>
      <p:pic>
        <p:nvPicPr>
          <p:cNvPr id="26" name="Image 4" descr="preencoded.png"/>
          <p:cNvPicPr>
            <a:picLocks noChangeAspect="1"/>
          </p:cNvPicPr>
          <p:nvPr/>
        </p:nvPicPr>
        <p:blipFill>
          <a:blip r:embed="rId7"/>
          <a:stretch>
            <a:fillRect/>
          </a:stretch>
        </p:blipFill>
        <p:spPr>
          <a:xfrm>
            <a:off x="662940" y="3872484"/>
            <a:ext cx="192024" cy="192024"/>
          </a:xfrm>
          <a:prstGeom prst="rect">
            <a:avLst/>
          </a:prstGeom>
        </p:spPr>
      </p:pic>
      <p:sp>
        <p:nvSpPr>
          <p:cNvPr id="27" name="Text 20"/>
          <p:cNvSpPr txBox="1"/>
          <p:nvPr/>
        </p:nvSpPr>
        <p:spPr>
          <a:xfrm>
            <a:off x="1097280" y="3739896"/>
            <a:ext cx="4297680" cy="228600"/>
          </a:xfrm>
          <a:prstGeom prst="rect">
            <a:avLst/>
          </a:prstGeom>
          <a:noFill/>
          <a:ln/>
        </p:spPr>
        <p:txBody>
          <a:bodyPr wrap="square" lIns="0" tIns="0" rIns="0" bIns="0"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Provider collaboration</a:t>
            </a:r>
            <a:endParaRPr lang="en-US" sz="1300" dirty="0"/>
          </a:p>
        </p:txBody>
      </p:sp>
      <p:sp>
        <p:nvSpPr>
          <p:cNvPr id="28" name="Text 21"/>
          <p:cNvSpPr txBox="1"/>
          <p:nvPr/>
        </p:nvSpPr>
        <p:spPr>
          <a:xfrm>
            <a:off x="1097280" y="3977640"/>
            <a:ext cx="4297680" cy="219456"/>
          </a:xfrm>
          <a:prstGeom prst="rect">
            <a:avLst/>
          </a:prstGeom>
          <a:noFill/>
          <a:ln/>
        </p:spPr>
        <p:txBody>
          <a:bodyPr wrap="square" lIns="0" tIns="0" rIns="0" bIns="0" rtlCol="0" anchor="ctr"/>
          <a:lstStyle/>
          <a:p>
            <a:pPr marL="0" indent="0">
              <a:buNone/>
            </a:pPr>
            <a:r>
              <a:rPr lang="en-US" sz="1050" dirty="0">
                <a:solidFill>
                  <a:srgbClr val="5B6E78"/>
                </a:solidFill>
                <a:latin typeface="Calibri" pitchFamily="34" charset="0"/>
                <a:ea typeface="Calibri" pitchFamily="34" charset="-122"/>
                <a:cs typeface="Calibri" pitchFamily="34" charset="-120"/>
              </a:rPr>
              <a:t>Lets the care team review and approve the plan</a:t>
            </a:r>
            <a:endParaRPr lang="en-US" sz="1050" dirty="0"/>
          </a:p>
        </p:txBody>
      </p:sp>
      <p:sp>
        <p:nvSpPr>
          <p:cNvPr id="37" name="Shape 30"/>
          <p:cNvSpPr/>
          <p:nvPr/>
        </p:nvSpPr>
        <p:spPr>
          <a:xfrm>
            <a:off x="457200" y="4389120"/>
            <a:ext cx="8229600" cy="457200"/>
          </a:xfrm>
          <a:prstGeom prst="rect">
            <a:avLst/>
          </a:prstGeom>
          <a:solidFill>
            <a:srgbClr val="FADAD0"/>
          </a:solidFill>
          <a:ln w="12700">
            <a:solidFill>
              <a:srgbClr val="FADAD0"/>
            </a:solidFill>
            <a:prstDash val="solid"/>
          </a:ln>
        </p:spPr>
      </p:sp>
      <p:sp>
        <p:nvSpPr>
          <p:cNvPr id="38" name="Text 31"/>
          <p:cNvSpPr txBox="1"/>
          <p:nvPr/>
        </p:nvSpPr>
        <p:spPr>
          <a:xfrm>
            <a:off x="640080" y="4389120"/>
            <a:ext cx="7863840" cy="457200"/>
          </a:xfrm>
          <a:prstGeom prst="rect">
            <a:avLst/>
          </a:prstGeom>
          <a:noFill/>
          <a:ln/>
        </p:spPr>
        <p:txBody>
          <a:bodyPr wrap="square" lIns="0" tIns="0" rIns="0" bIns="0" rtlCol="0" anchor="ctr"/>
          <a:lstStyle/>
          <a:p>
            <a:pPr marL="0" indent="0">
              <a:buNone/>
            </a:pPr>
            <a:r>
              <a:rPr lang="en-US" sz="1050" b="1" dirty="0">
                <a:solidFill>
                  <a:srgbClr val="E4572E"/>
                </a:solidFill>
                <a:latin typeface="Calibri" pitchFamily="34" charset="0"/>
                <a:ea typeface="Calibri" pitchFamily="34" charset="-122"/>
                <a:cs typeface="Calibri" pitchFamily="34" charset="-120"/>
              </a:rPr>
              <a:t>Scope: </a:t>
            </a:r>
            <a:r>
              <a:rPr lang="en-US" sz="1050" dirty="0">
                <a:solidFill>
                  <a:srgbClr val="1B2B34"/>
                </a:solidFill>
                <a:latin typeface="Calibri" pitchFamily="34" charset="0"/>
                <a:ea typeface="Calibri" pitchFamily="34" charset="-122"/>
                <a:cs typeface="Calibri" pitchFamily="34" charset="-120"/>
              </a:rPr>
              <a:t>the careplan generator, guideline checks and tracking screens are implemented; the 23% hospitalization reduction is a demo figure, not a measured clinical outcome.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LESSONS FROM BUILDING IT</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1B2B34"/>
                </a:solidFill>
                <a:latin typeface="Cambria" pitchFamily="34" charset="0"/>
                <a:ea typeface="Cambria" pitchFamily="34" charset="-122"/>
                <a:cs typeface="Cambria" pitchFamily="34" charset="-120"/>
              </a:rPr>
              <a:t>Challenges &amp; How I Solved Them</a:t>
            </a:r>
            <a:endParaRPr lang="en-US" sz="3200" dirty="0"/>
          </a:p>
        </p:txBody>
      </p:sp>
      <p:sp>
        <p:nvSpPr>
          <p:cNvPr id="4" name="Text 2"/>
          <p:cNvSpPr txBox="1"/>
          <p:nvPr/>
        </p:nvSpPr>
        <p:spPr>
          <a:xfrm>
            <a:off x="457200" y="1234440"/>
            <a:ext cx="3840480" cy="228600"/>
          </a:xfrm>
          <a:prstGeom prst="rect">
            <a:avLst/>
          </a:prstGeom>
          <a:noFill/>
          <a:ln/>
        </p:spPr>
        <p:txBody>
          <a:bodyPr wrap="square" lIns="0" tIns="0" rIns="0" bIns="0" rtlCol="0" anchor="ctr"/>
          <a:lstStyle/>
          <a:p>
            <a:pPr marL="0" indent="0">
              <a:buNone/>
            </a:pPr>
            <a:r>
              <a:rPr lang="en-US" sz="1050" b="1" kern="0" spc="200" dirty="0">
                <a:solidFill>
                  <a:srgbClr val="E4572E"/>
                </a:solidFill>
                <a:latin typeface="Calibri" pitchFamily="34" charset="0"/>
                <a:ea typeface="Calibri" pitchFamily="34" charset="-122"/>
                <a:cs typeface="Calibri" pitchFamily="34" charset="-120"/>
              </a:rPr>
              <a:t>CHALLENGE</a:t>
            </a:r>
            <a:endParaRPr lang="en-US" sz="1050" dirty="0"/>
          </a:p>
        </p:txBody>
      </p:sp>
      <p:sp>
        <p:nvSpPr>
          <p:cNvPr id="5" name="Text 3"/>
          <p:cNvSpPr txBox="1"/>
          <p:nvPr/>
        </p:nvSpPr>
        <p:spPr>
          <a:xfrm>
            <a:off x="4754880" y="1234440"/>
            <a:ext cx="3931920" cy="228600"/>
          </a:xfrm>
          <a:prstGeom prst="rect">
            <a:avLst/>
          </a:prstGeom>
          <a:noFill/>
          <a:ln/>
        </p:spPr>
        <p:txBody>
          <a:bodyPr wrap="square" lIns="0" tIns="0" rIns="0" bIns="0" rtlCol="0" anchor="ctr"/>
          <a:lstStyle/>
          <a:p>
            <a:pPr marL="0" indent="0">
              <a:buNone/>
            </a:pPr>
            <a:r>
              <a:rPr lang="en-US" sz="1050" b="1" kern="0" spc="200" dirty="0">
                <a:solidFill>
                  <a:srgbClr val="0E7C86"/>
                </a:solidFill>
                <a:latin typeface="Calibri" pitchFamily="34" charset="0"/>
                <a:ea typeface="Calibri" pitchFamily="34" charset="-122"/>
                <a:cs typeface="Calibri" pitchFamily="34" charset="-120"/>
              </a:rPr>
              <a:t>HOW I SOLVED IT</a:t>
            </a:r>
            <a:endParaRPr lang="en-US" sz="1050" dirty="0"/>
          </a:p>
        </p:txBody>
      </p:sp>
      <p:sp>
        <p:nvSpPr>
          <p:cNvPr id="6" name="Shape 4"/>
          <p:cNvSpPr/>
          <p:nvPr/>
        </p:nvSpPr>
        <p:spPr>
          <a:xfrm>
            <a:off x="457200" y="1554480"/>
            <a:ext cx="3840480" cy="685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7" name="Shape 5"/>
          <p:cNvSpPr/>
          <p:nvPr/>
        </p:nvSpPr>
        <p:spPr>
          <a:xfrm>
            <a:off x="566928" y="1691640"/>
            <a:ext cx="411480" cy="411480"/>
          </a:xfrm>
          <a:prstGeom prst="ellipse">
            <a:avLst/>
          </a:prstGeom>
          <a:solidFill>
            <a:srgbClr val="E4572E"/>
          </a:solidFill>
          <a:ln w="12700">
            <a:solidFill>
              <a:srgbClr val="E4572E"/>
            </a:solidFill>
            <a:prstDash val="solid"/>
          </a:ln>
        </p:spPr>
      </p:sp>
      <p:pic>
        <p:nvPicPr>
          <p:cNvPr id="8" name="Image 0" descr="preencoded.png"/>
          <p:cNvPicPr>
            <a:picLocks noChangeAspect="1"/>
          </p:cNvPicPr>
          <p:nvPr/>
        </p:nvPicPr>
        <p:blipFill>
          <a:blip r:embed="rId3"/>
          <a:stretch>
            <a:fillRect/>
          </a:stretch>
        </p:blipFill>
        <p:spPr>
          <a:xfrm>
            <a:off x="669798" y="1794510"/>
            <a:ext cx="205740" cy="205740"/>
          </a:xfrm>
          <a:prstGeom prst="rect">
            <a:avLst/>
          </a:prstGeom>
        </p:spPr>
      </p:pic>
      <p:sp>
        <p:nvSpPr>
          <p:cNvPr id="9" name="Text 6"/>
          <p:cNvSpPr txBox="1"/>
          <p:nvPr/>
        </p:nvSpPr>
        <p:spPr>
          <a:xfrm>
            <a:off x="1097280" y="1609344"/>
            <a:ext cx="3108960" cy="228600"/>
          </a:xfrm>
          <a:prstGeom prst="rect">
            <a:avLst/>
          </a:prstGeom>
          <a:noFill/>
          <a:ln/>
        </p:spPr>
        <p:txBody>
          <a:bodyPr wrap="square" lIns="0" tIns="0" rIns="0" bIns="0" rtlCol="0" anchor="ctr"/>
          <a:lstStyle/>
          <a:p>
            <a:pPr marL="0" indent="0">
              <a:buNone/>
            </a:pPr>
            <a:r>
              <a:rPr lang="en-US" sz="1200" b="1" dirty="0">
                <a:solidFill>
                  <a:srgbClr val="1B2B34"/>
                </a:solidFill>
                <a:latin typeface="Calibri" pitchFamily="34" charset="0"/>
                <a:ea typeface="Calibri" pitchFamily="34" charset="-122"/>
                <a:cs typeface="Calibri" pitchFamily="34" charset="-120"/>
              </a:rPr>
              <a:t>Raw data → valid FHIR</a:t>
            </a:r>
            <a:endParaRPr lang="en-US" sz="1200" dirty="0"/>
          </a:p>
        </p:txBody>
      </p:sp>
      <p:sp>
        <p:nvSpPr>
          <p:cNvPr id="10" name="Text 7"/>
          <p:cNvSpPr txBox="1"/>
          <p:nvPr/>
        </p:nvSpPr>
        <p:spPr>
          <a:xfrm>
            <a:off x="1097280" y="1837944"/>
            <a:ext cx="3108960" cy="384048"/>
          </a:xfrm>
          <a:prstGeom prst="rect">
            <a:avLst/>
          </a:prstGeom>
          <a:noFill/>
          <a:ln/>
        </p:spPr>
        <p:txBody>
          <a:bodyPr wrap="square" lIns="0" tIns="0" rIns="0" bIns="0" rtlCol="0" anchor="t"/>
          <a:lstStyle/>
          <a:p>
            <a:pPr marL="0" indent="0">
              <a:buNone/>
            </a:pPr>
            <a:r>
              <a:rPr lang="en-US" sz="1000" dirty="0">
                <a:solidFill>
                  <a:srgbClr val="5B6E78"/>
                </a:solidFill>
                <a:latin typeface="Calibri" pitchFamily="34" charset="0"/>
                <a:ea typeface="Calibri" pitchFamily="34" charset="-122"/>
                <a:cs typeface="Calibri" pitchFamily="34" charset="-120"/>
              </a:rPr>
              <a:t>Lab and wearable rows had to become schema-valid FHIR R4 Observations.</a:t>
            </a:r>
            <a:endParaRPr lang="en-US" sz="1000" dirty="0"/>
          </a:p>
        </p:txBody>
      </p:sp>
      <p:sp>
        <p:nvSpPr>
          <p:cNvPr id="11" name="Shape 8"/>
          <p:cNvSpPr/>
          <p:nvPr/>
        </p:nvSpPr>
        <p:spPr>
          <a:xfrm>
            <a:off x="4343400" y="1897380"/>
            <a:ext cx="365760" cy="0"/>
          </a:xfrm>
          <a:prstGeom prst="line">
            <a:avLst/>
          </a:prstGeom>
          <a:noFill/>
          <a:ln w="19050">
            <a:solidFill>
              <a:srgbClr val="0E7C86"/>
            </a:solidFill>
            <a:prstDash val="solid"/>
            <a:tailEnd type="triangle"/>
          </a:ln>
        </p:spPr>
      </p:sp>
      <p:sp>
        <p:nvSpPr>
          <p:cNvPr id="12" name="Shape 9"/>
          <p:cNvSpPr/>
          <p:nvPr/>
        </p:nvSpPr>
        <p:spPr>
          <a:xfrm>
            <a:off x="4754880" y="1554480"/>
            <a:ext cx="3931920" cy="685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3" name="Shape 10"/>
          <p:cNvSpPr/>
          <p:nvPr/>
        </p:nvSpPr>
        <p:spPr>
          <a:xfrm>
            <a:off x="4864608" y="1691640"/>
            <a:ext cx="411480" cy="411480"/>
          </a:xfrm>
          <a:prstGeom prst="ellipse">
            <a:avLst/>
          </a:prstGeom>
          <a:solidFill>
            <a:srgbClr val="0E7C86"/>
          </a:solidFill>
          <a:ln w="12700">
            <a:solidFill>
              <a:srgbClr val="0E7C86"/>
            </a:solidFill>
            <a:prstDash val="solid"/>
          </a:ln>
        </p:spPr>
      </p:sp>
      <p:pic>
        <p:nvPicPr>
          <p:cNvPr id="14" name="Image 1" descr="preencoded.png"/>
          <p:cNvPicPr>
            <a:picLocks noChangeAspect="1"/>
          </p:cNvPicPr>
          <p:nvPr/>
        </p:nvPicPr>
        <p:blipFill>
          <a:blip r:embed="rId4"/>
          <a:stretch>
            <a:fillRect/>
          </a:stretch>
        </p:blipFill>
        <p:spPr>
          <a:xfrm>
            <a:off x="4967478" y="1794510"/>
            <a:ext cx="205740" cy="205740"/>
          </a:xfrm>
          <a:prstGeom prst="rect">
            <a:avLst/>
          </a:prstGeom>
        </p:spPr>
      </p:pic>
      <p:sp>
        <p:nvSpPr>
          <p:cNvPr id="15" name="Text 11"/>
          <p:cNvSpPr txBox="1"/>
          <p:nvPr/>
        </p:nvSpPr>
        <p:spPr>
          <a:xfrm>
            <a:off x="5440680" y="1591056"/>
            <a:ext cx="3154680" cy="612648"/>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Mapping step with standard codes, plus FHIR validation and vital-range checks before publishing.</a:t>
            </a:r>
            <a:endParaRPr lang="en-US" sz="1050" dirty="0"/>
          </a:p>
        </p:txBody>
      </p:sp>
      <p:sp>
        <p:nvSpPr>
          <p:cNvPr id="16" name="Shape 12"/>
          <p:cNvSpPr/>
          <p:nvPr/>
        </p:nvSpPr>
        <p:spPr>
          <a:xfrm>
            <a:off x="457200" y="2331720"/>
            <a:ext cx="3840480" cy="685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7" name="Shape 13"/>
          <p:cNvSpPr/>
          <p:nvPr/>
        </p:nvSpPr>
        <p:spPr>
          <a:xfrm>
            <a:off x="566928" y="2468880"/>
            <a:ext cx="411480" cy="411480"/>
          </a:xfrm>
          <a:prstGeom prst="ellipse">
            <a:avLst/>
          </a:prstGeom>
          <a:solidFill>
            <a:srgbClr val="E4572E"/>
          </a:solidFill>
          <a:ln w="12700">
            <a:solidFill>
              <a:srgbClr val="E4572E"/>
            </a:solidFill>
            <a:prstDash val="solid"/>
          </a:ln>
        </p:spPr>
      </p:sp>
      <p:pic>
        <p:nvPicPr>
          <p:cNvPr id="18" name="Image 2" descr="preencoded.png"/>
          <p:cNvPicPr>
            <a:picLocks noChangeAspect="1"/>
          </p:cNvPicPr>
          <p:nvPr/>
        </p:nvPicPr>
        <p:blipFill>
          <a:blip r:embed="rId5"/>
          <a:stretch>
            <a:fillRect/>
          </a:stretch>
        </p:blipFill>
        <p:spPr>
          <a:xfrm>
            <a:off x="669798" y="2571750"/>
            <a:ext cx="205740" cy="205740"/>
          </a:xfrm>
          <a:prstGeom prst="rect">
            <a:avLst/>
          </a:prstGeom>
        </p:spPr>
      </p:pic>
      <p:sp>
        <p:nvSpPr>
          <p:cNvPr id="19" name="Text 14"/>
          <p:cNvSpPr txBox="1"/>
          <p:nvPr/>
        </p:nvSpPr>
        <p:spPr>
          <a:xfrm>
            <a:off x="1097280" y="2386584"/>
            <a:ext cx="3108960" cy="228600"/>
          </a:xfrm>
          <a:prstGeom prst="rect">
            <a:avLst/>
          </a:prstGeom>
          <a:noFill/>
          <a:ln/>
        </p:spPr>
        <p:txBody>
          <a:bodyPr wrap="square" lIns="0" tIns="0" rIns="0" bIns="0" rtlCol="0" anchor="ctr"/>
          <a:lstStyle/>
          <a:p>
            <a:pPr marL="0" indent="0">
              <a:buNone/>
            </a:pPr>
            <a:r>
              <a:rPr lang="en-US" sz="1200" b="1" dirty="0">
                <a:solidFill>
                  <a:srgbClr val="1B2B34"/>
                </a:solidFill>
                <a:latin typeface="Calibri" pitchFamily="34" charset="0"/>
                <a:ea typeface="Calibri" pitchFamily="34" charset="-122"/>
                <a:cs typeface="Calibri" pitchFamily="34" charset="-120"/>
              </a:rPr>
              <a:t>Privacy without hospital data</a:t>
            </a:r>
            <a:endParaRPr lang="en-US" sz="1200" dirty="0"/>
          </a:p>
        </p:txBody>
      </p:sp>
      <p:sp>
        <p:nvSpPr>
          <p:cNvPr id="20" name="Text 15"/>
          <p:cNvSpPr txBox="1"/>
          <p:nvPr/>
        </p:nvSpPr>
        <p:spPr>
          <a:xfrm>
            <a:off x="1097280" y="2615184"/>
            <a:ext cx="3108960" cy="384048"/>
          </a:xfrm>
          <a:prstGeom prst="rect">
            <a:avLst/>
          </a:prstGeom>
          <a:noFill/>
          <a:ln/>
        </p:spPr>
        <p:txBody>
          <a:bodyPr wrap="square" lIns="0" tIns="0" rIns="0" bIns="0" rtlCol="0" anchor="t"/>
          <a:lstStyle/>
          <a:p>
            <a:pPr marL="0" indent="0">
              <a:buNone/>
            </a:pPr>
            <a:r>
              <a:rPr lang="en-US" sz="1000" dirty="0">
                <a:solidFill>
                  <a:srgbClr val="5B6E78"/>
                </a:solidFill>
                <a:latin typeface="Calibri" pitchFamily="34" charset="0"/>
                <a:ea typeface="Calibri" pitchFamily="34" charset="-122"/>
                <a:cs typeface="Calibri" pitchFamily="34" charset="-120"/>
              </a:rPr>
              <a:t>Real federated training needs several hospitals’ data, which isn’t available.</a:t>
            </a:r>
            <a:endParaRPr lang="en-US" sz="1000" dirty="0"/>
          </a:p>
        </p:txBody>
      </p:sp>
      <p:sp>
        <p:nvSpPr>
          <p:cNvPr id="21" name="Shape 16"/>
          <p:cNvSpPr/>
          <p:nvPr/>
        </p:nvSpPr>
        <p:spPr>
          <a:xfrm>
            <a:off x="4343400" y="2674620"/>
            <a:ext cx="365760" cy="0"/>
          </a:xfrm>
          <a:prstGeom prst="line">
            <a:avLst/>
          </a:prstGeom>
          <a:noFill/>
          <a:ln w="19050">
            <a:solidFill>
              <a:srgbClr val="0E7C86"/>
            </a:solidFill>
            <a:prstDash val="solid"/>
            <a:tailEnd type="triangle"/>
          </a:ln>
        </p:spPr>
      </p:sp>
      <p:sp>
        <p:nvSpPr>
          <p:cNvPr id="22" name="Shape 17"/>
          <p:cNvSpPr/>
          <p:nvPr/>
        </p:nvSpPr>
        <p:spPr>
          <a:xfrm>
            <a:off x="4754880" y="2331720"/>
            <a:ext cx="3931920" cy="685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3" name="Shape 18"/>
          <p:cNvSpPr/>
          <p:nvPr/>
        </p:nvSpPr>
        <p:spPr>
          <a:xfrm>
            <a:off x="4864608" y="2468880"/>
            <a:ext cx="411480" cy="411480"/>
          </a:xfrm>
          <a:prstGeom prst="ellipse">
            <a:avLst/>
          </a:prstGeom>
          <a:solidFill>
            <a:srgbClr val="0E7C86"/>
          </a:solidFill>
          <a:ln w="12700">
            <a:solidFill>
              <a:srgbClr val="0E7C86"/>
            </a:solidFill>
            <a:prstDash val="solid"/>
          </a:ln>
        </p:spPr>
      </p:sp>
      <p:pic>
        <p:nvPicPr>
          <p:cNvPr id="24" name="Image 3" descr="preencoded.png"/>
          <p:cNvPicPr>
            <a:picLocks noChangeAspect="1"/>
          </p:cNvPicPr>
          <p:nvPr/>
        </p:nvPicPr>
        <p:blipFill>
          <a:blip r:embed="rId4"/>
          <a:stretch>
            <a:fillRect/>
          </a:stretch>
        </p:blipFill>
        <p:spPr>
          <a:xfrm>
            <a:off x="4967478" y="2571750"/>
            <a:ext cx="205740" cy="205740"/>
          </a:xfrm>
          <a:prstGeom prst="rect">
            <a:avLst/>
          </a:prstGeom>
        </p:spPr>
      </p:pic>
      <p:sp>
        <p:nvSpPr>
          <p:cNvPr id="25" name="Text 19"/>
          <p:cNvSpPr txBox="1"/>
          <p:nvPr/>
        </p:nvSpPr>
        <p:spPr>
          <a:xfrm>
            <a:off x="5440680" y="2368296"/>
            <a:ext cx="3154680" cy="612648"/>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Simulated 3 weighted hospital nodes with a DP budget, keeping the real aggregation logic and UI.</a:t>
            </a:r>
            <a:endParaRPr lang="en-US" sz="1050" dirty="0"/>
          </a:p>
        </p:txBody>
      </p:sp>
      <p:sp>
        <p:nvSpPr>
          <p:cNvPr id="26" name="Shape 20"/>
          <p:cNvSpPr/>
          <p:nvPr/>
        </p:nvSpPr>
        <p:spPr>
          <a:xfrm>
            <a:off x="457200" y="3108960"/>
            <a:ext cx="3840480" cy="685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7" name="Shape 21"/>
          <p:cNvSpPr/>
          <p:nvPr/>
        </p:nvSpPr>
        <p:spPr>
          <a:xfrm>
            <a:off x="566928" y="3246120"/>
            <a:ext cx="411480" cy="411480"/>
          </a:xfrm>
          <a:prstGeom prst="ellipse">
            <a:avLst/>
          </a:prstGeom>
          <a:solidFill>
            <a:srgbClr val="E4572E"/>
          </a:solidFill>
          <a:ln w="12700">
            <a:solidFill>
              <a:srgbClr val="E4572E"/>
            </a:solidFill>
            <a:prstDash val="solid"/>
          </a:ln>
        </p:spPr>
      </p:sp>
      <p:pic>
        <p:nvPicPr>
          <p:cNvPr id="28" name="Image 4" descr="preencoded.png"/>
          <p:cNvPicPr>
            <a:picLocks noChangeAspect="1"/>
          </p:cNvPicPr>
          <p:nvPr/>
        </p:nvPicPr>
        <p:blipFill>
          <a:blip r:embed="rId6"/>
          <a:stretch>
            <a:fillRect/>
          </a:stretch>
        </p:blipFill>
        <p:spPr>
          <a:xfrm>
            <a:off x="669798" y="3348990"/>
            <a:ext cx="205740" cy="205740"/>
          </a:xfrm>
          <a:prstGeom prst="rect">
            <a:avLst/>
          </a:prstGeom>
        </p:spPr>
      </p:pic>
      <p:sp>
        <p:nvSpPr>
          <p:cNvPr id="29" name="Text 22"/>
          <p:cNvSpPr txBox="1"/>
          <p:nvPr/>
        </p:nvSpPr>
        <p:spPr>
          <a:xfrm>
            <a:off x="1097280" y="3163824"/>
            <a:ext cx="3108960" cy="228600"/>
          </a:xfrm>
          <a:prstGeom prst="rect">
            <a:avLst/>
          </a:prstGeom>
          <a:noFill/>
          <a:ln/>
        </p:spPr>
        <p:txBody>
          <a:bodyPr wrap="square" lIns="0" tIns="0" rIns="0" bIns="0" rtlCol="0" anchor="ctr"/>
          <a:lstStyle/>
          <a:p>
            <a:pPr marL="0" indent="0">
              <a:buNone/>
            </a:pPr>
            <a:r>
              <a:rPr lang="en-US" sz="1200" b="1" dirty="0">
                <a:solidFill>
                  <a:srgbClr val="1B2B34"/>
                </a:solidFill>
                <a:latin typeface="Calibri" pitchFamily="34" charset="0"/>
                <a:ea typeface="Calibri" pitchFamily="34" charset="-122"/>
                <a:cs typeface="Calibri" pitchFamily="34" charset="-120"/>
              </a:rPr>
              <a:t>Trusting AI predictions</a:t>
            </a:r>
            <a:endParaRPr lang="en-US" sz="1200" dirty="0"/>
          </a:p>
        </p:txBody>
      </p:sp>
      <p:sp>
        <p:nvSpPr>
          <p:cNvPr id="30" name="Text 23"/>
          <p:cNvSpPr txBox="1"/>
          <p:nvPr/>
        </p:nvSpPr>
        <p:spPr>
          <a:xfrm>
            <a:off x="1097280" y="3392424"/>
            <a:ext cx="3108960" cy="384048"/>
          </a:xfrm>
          <a:prstGeom prst="rect">
            <a:avLst/>
          </a:prstGeom>
          <a:noFill/>
          <a:ln/>
        </p:spPr>
        <p:txBody>
          <a:bodyPr wrap="square" lIns="0" tIns="0" rIns="0" bIns="0" rtlCol="0" anchor="t"/>
          <a:lstStyle/>
          <a:p>
            <a:pPr marL="0" indent="0">
              <a:buNone/>
            </a:pPr>
            <a:r>
              <a:rPr lang="en-US" sz="1000" dirty="0">
                <a:solidFill>
                  <a:srgbClr val="5B6E78"/>
                </a:solidFill>
                <a:latin typeface="Calibri" pitchFamily="34" charset="0"/>
                <a:ea typeface="Calibri" pitchFamily="34" charset="-122"/>
                <a:cs typeface="Calibri" pitchFamily="34" charset="-120"/>
              </a:rPr>
              <a:t>A bare risk score gives clinicians no reason to act on it.</a:t>
            </a:r>
            <a:endParaRPr lang="en-US" sz="1000" dirty="0"/>
          </a:p>
        </p:txBody>
      </p:sp>
      <p:sp>
        <p:nvSpPr>
          <p:cNvPr id="31" name="Shape 24"/>
          <p:cNvSpPr/>
          <p:nvPr/>
        </p:nvSpPr>
        <p:spPr>
          <a:xfrm>
            <a:off x="4343400" y="3451860"/>
            <a:ext cx="365760" cy="0"/>
          </a:xfrm>
          <a:prstGeom prst="line">
            <a:avLst/>
          </a:prstGeom>
          <a:noFill/>
          <a:ln w="19050">
            <a:solidFill>
              <a:srgbClr val="0E7C86"/>
            </a:solidFill>
            <a:prstDash val="solid"/>
            <a:tailEnd type="triangle"/>
          </a:ln>
        </p:spPr>
      </p:sp>
      <p:sp>
        <p:nvSpPr>
          <p:cNvPr id="32" name="Shape 25"/>
          <p:cNvSpPr/>
          <p:nvPr/>
        </p:nvSpPr>
        <p:spPr>
          <a:xfrm>
            <a:off x="4754880" y="3108960"/>
            <a:ext cx="3931920" cy="685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33" name="Shape 26"/>
          <p:cNvSpPr/>
          <p:nvPr/>
        </p:nvSpPr>
        <p:spPr>
          <a:xfrm>
            <a:off x="4864608" y="3246120"/>
            <a:ext cx="411480" cy="411480"/>
          </a:xfrm>
          <a:prstGeom prst="ellipse">
            <a:avLst/>
          </a:prstGeom>
          <a:solidFill>
            <a:srgbClr val="0E7C86"/>
          </a:solidFill>
          <a:ln w="12700">
            <a:solidFill>
              <a:srgbClr val="0E7C86"/>
            </a:solidFill>
            <a:prstDash val="solid"/>
          </a:ln>
        </p:spPr>
      </p:sp>
      <p:pic>
        <p:nvPicPr>
          <p:cNvPr id="34" name="Image 5" descr="preencoded.png"/>
          <p:cNvPicPr>
            <a:picLocks noChangeAspect="1"/>
          </p:cNvPicPr>
          <p:nvPr/>
        </p:nvPicPr>
        <p:blipFill>
          <a:blip r:embed="rId4"/>
          <a:stretch>
            <a:fillRect/>
          </a:stretch>
        </p:blipFill>
        <p:spPr>
          <a:xfrm>
            <a:off x="4967478" y="3348990"/>
            <a:ext cx="205740" cy="205740"/>
          </a:xfrm>
          <a:prstGeom prst="rect">
            <a:avLst/>
          </a:prstGeom>
        </p:spPr>
      </p:pic>
      <p:sp>
        <p:nvSpPr>
          <p:cNvPr id="35" name="Text 27"/>
          <p:cNvSpPr txBox="1"/>
          <p:nvPr/>
        </p:nvSpPr>
        <p:spPr>
          <a:xfrm>
            <a:off x="5440680" y="3145536"/>
            <a:ext cx="3154680" cy="612648"/>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Added SHAP contributions showing which biomarkers drive each patient’s risk.</a:t>
            </a:r>
            <a:endParaRPr lang="en-US" sz="1050" dirty="0"/>
          </a:p>
        </p:txBody>
      </p:sp>
      <p:sp>
        <p:nvSpPr>
          <p:cNvPr id="36" name="Shape 28"/>
          <p:cNvSpPr/>
          <p:nvPr/>
        </p:nvSpPr>
        <p:spPr>
          <a:xfrm>
            <a:off x="457200" y="3886200"/>
            <a:ext cx="3840480" cy="685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37" name="Shape 29"/>
          <p:cNvSpPr/>
          <p:nvPr/>
        </p:nvSpPr>
        <p:spPr>
          <a:xfrm>
            <a:off x="566928" y="4023360"/>
            <a:ext cx="411480" cy="411480"/>
          </a:xfrm>
          <a:prstGeom prst="ellipse">
            <a:avLst/>
          </a:prstGeom>
          <a:solidFill>
            <a:srgbClr val="E4572E"/>
          </a:solidFill>
          <a:ln w="12700">
            <a:solidFill>
              <a:srgbClr val="E4572E"/>
            </a:solidFill>
            <a:prstDash val="solid"/>
          </a:ln>
        </p:spPr>
      </p:sp>
      <p:pic>
        <p:nvPicPr>
          <p:cNvPr id="38" name="Image 6" descr="preencoded.png"/>
          <p:cNvPicPr>
            <a:picLocks noChangeAspect="1"/>
          </p:cNvPicPr>
          <p:nvPr/>
        </p:nvPicPr>
        <p:blipFill>
          <a:blip r:embed="rId7"/>
          <a:stretch>
            <a:fillRect/>
          </a:stretch>
        </p:blipFill>
        <p:spPr>
          <a:xfrm>
            <a:off x="669798" y="4126230"/>
            <a:ext cx="205740" cy="205740"/>
          </a:xfrm>
          <a:prstGeom prst="rect">
            <a:avLst/>
          </a:prstGeom>
        </p:spPr>
      </p:pic>
      <p:sp>
        <p:nvSpPr>
          <p:cNvPr id="39" name="Text 30"/>
          <p:cNvSpPr txBox="1"/>
          <p:nvPr/>
        </p:nvSpPr>
        <p:spPr>
          <a:xfrm>
            <a:off x="1097280" y="3941064"/>
            <a:ext cx="3108960" cy="228600"/>
          </a:xfrm>
          <a:prstGeom prst="rect">
            <a:avLst/>
          </a:prstGeom>
          <a:noFill/>
          <a:ln/>
        </p:spPr>
        <p:txBody>
          <a:bodyPr wrap="square" lIns="0" tIns="0" rIns="0" bIns="0" rtlCol="0" anchor="ctr"/>
          <a:lstStyle/>
          <a:p>
            <a:pPr marL="0" indent="0">
              <a:buNone/>
            </a:pPr>
            <a:r>
              <a:rPr lang="en-US" sz="1200" b="1" dirty="0">
                <a:solidFill>
                  <a:srgbClr val="1B2B34"/>
                </a:solidFill>
                <a:latin typeface="Calibri" pitchFamily="34" charset="0"/>
                <a:ea typeface="Calibri" pitchFamily="34" charset="-122"/>
                <a:cs typeface="Calibri" pitchFamily="34" charset="-120"/>
              </a:rPr>
              <a:t>Fast, accountable alerts</a:t>
            </a:r>
            <a:endParaRPr lang="en-US" sz="1200" dirty="0"/>
          </a:p>
        </p:txBody>
      </p:sp>
      <p:sp>
        <p:nvSpPr>
          <p:cNvPr id="40" name="Text 31"/>
          <p:cNvSpPr txBox="1"/>
          <p:nvPr/>
        </p:nvSpPr>
        <p:spPr>
          <a:xfrm>
            <a:off x="1097280" y="4169664"/>
            <a:ext cx="3108960" cy="384048"/>
          </a:xfrm>
          <a:prstGeom prst="rect">
            <a:avLst/>
          </a:prstGeom>
          <a:noFill/>
          <a:ln/>
        </p:spPr>
        <p:txBody>
          <a:bodyPr wrap="square" lIns="0" tIns="0" rIns="0" bIns="0" rtlCol="0" anchor="t"/>
          <a:lstStyle/>
          <a:p>
            <a:pPr marL="0" indent="0">
              <a:buNone/>
            </a:pPr>
            <a:r>
              <a:rPr lang="en-US" sz="1000" dirty="0">
                <a:solidFill>
                  <a:srgbClr val="5B6E78"/>
                </a:solidFill>
                <a:latin typeface="Calibri" pitchFamily="34" charset="0"/>
                <a:ea typeface="Calibri" pitchFamily="34" charset="-122"/>
                <a:cs typeface="Calibri" pitchFamily="34" charset="-120"/>
              </a:rPr>
              <a:t>Alerts are useless if nobody acknowledges them in time.</a:t>
            </a:r>
            <a:endParaRPr lang="en-US" sz="1000" dirty="0"/>
          </a:p>
        </p:txBody>
      </p:sp>
      <p:sp>
        <p:nvSpPr>
          <p:cNvPr id="41" name="Shape 32"/>
          <p:cNvSpPr/>
          <p:nvPr/>
        </p:nvSpPr>
        <p:spPr>
          <a:xfrm>
            <a:off x="4343400" y="4229100"/>
            <a:ext cx="365760" cy="0"/>
          </a:xfrm>
          <a:prstGeom prst="line">
            <a:avLst/>
          </a:prstGeom>
          <a:noFill/>
          <a:ln w="19050">
            <a:solidFill>
              <a:srgbClr val="0E7C86"/>
            </a:solidFill>
            <a:prstDash val="solid"/>
            <a:tailEnd type="triangle"/>
          </a:ln>
        </p:spPr>
      </p:sp>
      <p:sp>
        <p:nvSpPr>
          <p:cNvPr id="42" name="Shape 33"/>
          <p:cNvSpPr/>
          <p:nvPr/>
        </p:nvSpPr>
        <p:spPr>
          <a:xfrm>
            <a:off x="4754880" y="3886200"/>
            <a:ext cx="3931920" cy="685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43" name="Shape 34"/>
          <p:cNvSpPr/>
          <p:nvPr/>
        </p:nvSpPr>
        <p:spPr>
          <a:xfrm>
            <a:off x="4864608" y="4023360"/>
            <a:ext cx="411480" cy="411480"/>
          </a:xfrm>
          <a:prstGeom prst="ellipse">
            <a:avLst/>
          </a:prstGeom>
          <a:solidFill>
            <a:srgbClr val="0E7C86"/>
          </a:solidFill>
          <a:ln w="12700">
            <a:solidFill>
              <a:srgbClr val="0E7C86"/>
            </a:solidFill>
            <a:prstDash val="solid"/>
          </a:ln>
        </p:spPr>
      </p:sp>
      <p:pic>
        <p:nvPicPr>
          <p:cNvPr id="44" name="Image 7" descr="preencoded.png"/>
          <p:cNvPicPr>
            <a:picLocks noChangeAspect="1"/>
          </p:cNvPicPr>
          <p:nvPr/>
        </p:nvPicPr>
        <p:blipFill>
          <a:blip r:embed="rId4"/>
          <a:stretch>
            <a:fillRect/>
          </a:stretch>
        </p:blipFill>
        <p:spPr>
          <a:xfrm>
            <a:off x="4967478" y="4126230"/>
            <a:ext cx="205740" cy="205740"/>
          </a:xfrm>
          <a:prstGeom prst="rect">
            <a:avLst/>
          </a:prstGeom>
        </p:spPr>
      </p:pic>
      <p:sp>
        <p:nvSpPr>
          <p:cNvPr id="45" name="Text 35"/>
          <p:cNvSpPr txBox="1"/>
          <p:nvPr/>
        </p:nvSpPr>
        <p:spPr>
          <a:xfrm>
            <a:off x="5440680" y="3922776"/>
            <a:ext cx="3154680" cy="612648"/>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Alert engine starts a 3.2-min SLA clock; claiming on mobile stops it and records time-to-notify.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WHAT COMES NEXT</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1B2B34"/>
                </a:solidFill>
                <a:latin typeface="Cambria" pitchFamily="34" charset="0"/>
                <a:ea typeface="Cambria" pitchFamily="34" charset="-122"/>
                <a:cs typeface="Cambria" pitchFamily="34" charset="-120"/>
              </a:rPr>
              <a:t>Future Enhancements</a:t>
            </a:r>
            <a:endParaRPr lang="en-US" sz="3200" dirty="0"/>
          </a:p>
        </p:txBody>
      </p:sp>
      <p:sp>
        <p:nvSpPr>
          <p:cNvPr id="4" name="Shape 2"/>
          <p:cNvSpPr/>
          <p:nvPr/>
        </p:nvSpPr>
        <p:spPr>
          <a:xfrm>
            <a:off x="457200" y="1325880"/>
            <a:ext cx="4023360" cy="141732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 name="Shape 3"/>
          <p:cNvSpPr/>
          <p:nvPr/>
        </p:nvSpPr>
        <p:spPr>
          <a:xfrm>
            <a:off x="685800" y="1600200"/>
            <a:ext cx="594360" cy="594360"/>
          </a:xfrm>
          <a:prstGeom prst="ellipse">
            <a:avLst/>
          </a:prstGeom>
          <a:solidFill>
            <a:srgbClr val="0E7C86"/>
          </a:solidFill>
          <a:ln w="12700">
            <a:solidFill>
              <a:srgbClr val="0E7C86"/>
            </a:solidFill>
            <a:prstDash val="solid"/>
          </a:ln>
        </p:spPr>
      </p:sp>
      <p:pic>
        <p:nvPicPr>
          <p:cNvPr id="6" name="Image 0" descr="preencoded.png"/>
          <p:cNvPicPr>
            <a:picLocks noChangeAspect="1"/>
          </p:cNvPicPr>
          <p:nvPr/>
        </p:nvPicPr>
        <p:blipFill>
          <a:blip r:embed="rId3"/>
          <a:stretch>
            <a:fillRect/>
          </a:stretch>
        </p:blipFill>
        <p:spPr>
          <a:xfrm>
            <a:off x="834390" y="1748790"/>
            <a:ext cx="297180" cy="297180"/>
          </a:xfrm>
          <a:prstGeom prst="rect">
            <a:avLst/>
          </a:prstGeom>
        </p:spPr>
      </p:pic>
      <p:sp>
        <p:nvSpPr>
          <p:cNvPr id="7" name="Text 4"/>
          <p:cNvSpPr txBox="1"/>
          <p:nvPr/>
        </p:nvSpPr>
        <p:spPr>
          <a:xfrm>
            <a:off x="1508760" y="1508760"/>
            <a:ext cx="2834640" cy="320040"/>
          </a:xfrm>
          <a:prstGeom prst="rect">
            <a:avLst/>
          </a:prstGeom>
          <a:noFill/>
          <a:ln/>
        </p:spPr>
        <p:txBody>
          <a:bodyPr wrap="square" lIns="0" tIns="0" rIns="0" bIns="0" rtlCol="0" anchor="ctr"/>
          <a:lstStyle/>
          <a:p>
            <a:pPr marL="0" indent="0">
              <a:buNone/>
            </a:pPr>
            <a:r>
              <a:rPr lang="en-US" sz="1500" b="1" dirty="0">
                <a:solidFill>
                  <a:srgbClr val="1B2B34"/>
                </a:solidFill>
                <a:latin typeface="Calibri" pitchFamily="34" charset="0"/>
                <a:ea typeface="Calibri" pitchFamily="34" charset="-122"/>
                <a:cs typeface="Calibri" pitchFamily="34" charset="-120"/>
              </a:rPr>
              <a:t>Drug-interaction checks</a:t>
            </a:r>
            <a:endParaRPr lang="en-US" sz="1500" dirty="0"/>
          </a:p>
        </p:txBody>
      </p:sp>
      <p:sp>
        <p:nvSpPr>
          <p:cNvPr id="8" name="Text 5"/>
          <p:cNvSpPr txBox="1"/>
          <p:nvPr/>
        </p:nvSpPr>
        <p:spPr>
          <a:xfrm>
            <a:off x="1508760" y="1856232"/>
            <a:ext cx="2834640" cy="822960"/>
          </a:xfrm>
          <a:prstGeom prst="rect">
            <a:avLst/>
          </a:prstGeom>
          <a:noFill/>
          <a:ln/>
        </p:spPr>
        <p:txBody>
          <a:bodyPr wrap="square" lIns="0" tIns="0" rIns="0" bIns="0" rtlCol="0" anchor="t"/>
          <a:lstStyle/>
          <a:p>
            <a:pPr marL="0" indent="0">
              <a:buNone/>
            </a:pPr>
            <a:r>
              <a:rPr lang="en-US" sz="1200" dirty="0">
                <a:solidFill>
                  <a:srgbClr val="5B6E78"/>
                </a:solidFill>
                <a:latin typeface="Calibri" pitchFamily="34" charset="0"/>
                <a:ea typeface="Calibri" pitchFamily="34" charset="-122"/>
                <a:cs typeface="Calibri" pitchFamily="34" charset="-120"/>
              </a:rPr>
              <a:t>Extend the careplan generator with automated drug-interaction and dosage-safety checks.</a:t>
            </a:r>
            <a:endParaRPr lang="en-US" sz="1200" dirty="0"/>
          </a:p>
        </p:txBody>
      </p:sp>
      <p:sp>
        <p:nvSpPr>
          <p:cNvPr id="9" name="Shape 6"/>
          <p:cNvSpPr/>
          <p:nvPr/>
        </p:nvSpPr>
        <p:spPr>
          <a:xfrm>
            <a:off x="4663440" y="1325880"/>
            <a:ext cx="4023360" cy="141732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0" name="Shape 7"/>
          <p:cNvSpPr/>
          <p:nvPr/>
        </p:nvSpPr>
        <p:spPr>
          <a:xfrm>
            <a:off x="4892040" y="1600200"/>
            <a:ext cx="594360" cy="594360"/>
          </a:xfrm>
          <a:prstGeom prst="ellipse">
            <a:avLst/>
          </a:prstGeom>
          <a:solidFill>
            <a:srgbClr val="C9861A"/>
          </a:solidFill>
          <a:ln w="12700">
            <a:solidFill>
              <a:srgbClr val="C9861A"/>
            </a:solidFill>
            <a:prstDash val="solid"/>
          </a:ln>
        </p:spPr>
      </p:sp>
      <p:pic>
        <p:nvPicPr>
          <p:cNvPr id="11" name="Image 1" descr="preencoded.png"/>
          <p:cNvPicPr>
            <a:picLocks noChangeAspect="1"/>
          </p:cNvPicPr>
          <p:nvPr/>
        </p:nvPicPr>
        <p:blipFill>
          <a:blip r:embed="rId4"/>
          <a:stretch>
            <a:fillRect/>
          </a:stretch>
        </p:blipFill>
        <p:spPr>
          <a:xfrm>
            <a:off x="5040630" y="1748790"/>
            <a:ext cx="297180" cy="297180"/>
          </a:xfrm>
          <a:prstGeom prst="rect">
            <a:avLst/>
          </a:prstGeom>
        </p:spPr>
      </p:pic>
      <p:sp>
        <p:nvSpPr>
          <p:cNvPr id="12" name="Text 8"/>
          <p:cNvSpPr txBox="1"/>
          <p:nvPr/>
        </p:nvSpPr>
        <p:spPr>
          <a:xfrm>
            <a:off x="5715000" y="1508760"/>
            <a:ext cx="2834640" cy="320040"/>
          </a:xfrm>
          <a:prstGeom prst="rect">
            <a:avLst/>
          </a:prstGeom>
          <a:noFill/>
          <a:ln/>
        </p:spPr>
        <p:txBody>
          <a:bodyPr wrap="square" lIns="0" tIns="0" rIns="0" bIns="0" rtlCol="0" anchor="ctr"/>
          <a:lstStyle/>
          <a:p>
            <a:pPr marL="0" indent="0">
              <a:buNone/>
            </a:pPr>
            <a:r>
              <a:rPr lang="en-US" sz="1500" b="1" dirty="0">
                <a:solidFill>
                  <a:srgbClr val="1B2B34"/>
                </a:solidFill>
                <a:latin typeface="Calibri" pitchFamily="34" charset="0"/>
                <a:ea typeface="Calibri" pitchFamily="34" charset="-122"/>
                <a:cs typeface="Calibri" pitchFamily="34" charset="-120"/>
              </a:rPr>
              <a:t>Real federated training</a:t>
            </a:r>
            <a:endParaRPr lang="en-US" sz="1500" dirty="0"/>
          </a:p>
        </p:txBody>
      </p:sp>
      <p:sp>
        <p:nvSpPr>
          <p:cNvPr id="13" name="Text 9"/>
          <p:cNvSpPr txBox="1"/>
          <p:nvPr/>
        </p:nvSpPr>
        <p:spPr>
          <a:xfrm>
            <a:off x="5715000" y="1856232"/>
            <a:ext cx="2834640" cy="822960"/>
          </a:xfrm>
          <a:prstGeom prst="rect">
            <a:avLst/>
          </a:prstGeom>
          <a:noFill/>
          <a:ln/>
        </p:spPr>
        <p:txBody>
          <a:bodyPr wrap="square" lIns="0" tIns="0" rIns="0" bIns="0" rtlCol="0" anchor="t"/>
          <a:lstStyle/>
          <a:p>
            <a:pPr marL="0" indent="0">
              <a:buNone/>
            </a:pPr>
            <a:r>
              <a:rPr lang="en-US" sz="1200" dirty="0">
                <a:solidFill>
                  <a:srgbClr val="5B6E78"/>
                </a:solidFill>
                <a:latin typeface="Calibri" pitchFamily="34" charset="0"/>
                <a:ea typeface="Calibri" pitchFamily="34" charset="-122"/>
                <a:cs typeface="Calibri" pitchFamily="34" charset="-120"/>
              </a:rPr>
              <a:t>Replace the simulation with TensorFlow Federated or Flower training on public clinical datasets.</a:t>
            </a:r>
            <a:endParaRPr lang="en-US" sz="1200" dirty="0"/>
          </a:p>
        </p:txBody>
      </p:sp>
      <p:sp>
        <p:nvSpPr>
          <p:cNvPr id="14" name="Shape 10"/>
          <p:cNvSpPr/>
          <p:nvPr/>
        </p:nvSpPr>
        <p:spPr>
          <a:xfrm>
            <a:off x="457200" y="2880360"/>
            <a:ext cx="4023360" cy="141732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5" name="Shape 11"/>
          <p:cNvSpPr/>
          <p:nvPr/>
        </p:nvSpPr>
        <p:spPr>
          <a:xfrm>
            <a:off x="685800" y="3154680"/>
            <a:ext cx="594360" cy="594360"/>
          </a:xfrm>
          <a:prstGeom prst="ellipse">
            <a:avLst/>
          </a:prstGeom>
          <a:solidFill>
            <a:srgbClr val="E4572E"/>
          </a:solidFill>
          <a:ln w="12700">
            <a:solidFill>
              <a:srgbClr val="E4572E"/>
            </a:solidFill>
            <a:prstDash val="solid"/>
          </a:ln>
        </p:spPr>
      </p:sp>
      <p:pic>
        <p:nvPicPr>
          <p:cNvPr id="16" name="Image 2" descr="preencoded.png"/>
          <p:cNvPicPr>
            <a:picLocks noChangeAspect="1"/>
          </p:cNvPicPr>
          <p:nvPr/>
        </p:nvPicPr>
        <p:blipFill>
          <a:blip r:embed="rId5"/>
          <a:stretch>
            <a:fillRect/>
          </a:stretch>
        </p:blipFill>
        <p:spPr>
          <a:xfrm>
            <a:off x="834390" y="3303270"/>
            <a:ext cx="297180" cy="297180"/>
          </a:xfrm>
          <a:prstGeom prst="rect">
            <a:avLst/>
          </a:prstGeom>
        </p:spPr>
      </p:pic>
      <p:sp>
        <p:nvSpPr>
          <p:cNvPr id="17" name="Text 12"/>
          <p:cNvSpPr txBox="1"/>
          <p:nvPr/>
        </p:nvSpPr>
        <p:spPr>
          <a:xfrm>
            <a:off x="1508760" y="3063240"/>
            <a:ext cx="2834640" cy="320040"/>
          </a:xfrm>
          <a:prstGeom prst="rect">
            <a:avLst/>
          </a:prstGeom>
          <a:noFill/>
          <a:ln/>
        </p:spPr>
        <p:txBody>
          <a:bodyPr wrap="square" lIns="0" tIns="0" rIns="0" bIns="0" rtlCol="0" anchor="ctr"/>
          <a:lstStyle/>
          <a:p>
            <a:pPr marL="0" indent="0">
              <a:buNone/>
            </a:pPr>
            <a:r>
              <a:rPr lang="en-US" sz="1500" b="1" dirty="0">
                <a:solidFill>
                  <a:srgbClr val="1B2B34"/>
                </a:solidFill>
                <a:latin typeface="Calibri" pitchFamily="34" charset="0"/>
                <a:ea typeface="Calibri" pitchFamily="34" charset="-122"/>
                <a:cs typeface="Calibri" pitchFamily="34" charset="-120"/>
              </a:rPr>
              <a:t>Learned anomaly models</a:t>
            </a:r>
            <a:endParaRPr lang="en-US" sz="1500" dirty="0"/>
          </a:p>
        </p:txBody>
      </p:sp>
      <p:sp>
        <p:nvSpPr>
          <p:cNvPr id="18" name="Text 13"/>
          <p:cNvSpPr txBox="1"/>
          <p:nvPr/>
        </p:nvSpPr>
        <p:spPr>
          <a:xfrm>
            <a:off x="1508760" y="3410712"/>
            <a:ext cx="2834640" cy="822960"/>
          </a:xfrm>
          <a:prstGeom prst="rect">
            <a:avLst/>
          </a:prstGeom>
          <a:noFill/>
          <a:ln/>
        </p:spPr>
        <p:txBody>
          <a:bodyPr wrap="square" lIns="0" tIns="0" rIns="0" bIns="0" rtlCol="0" anchor="t"/>
          <a:lstStyle/>
          <a:p>
            <a:pPr marL="0" indent="0">
              <a:buNone/>
            </a:pPr>
            <a:r>
              <a:rPr lang="en-US" sz="1200" dirty="0">
                <a:solidFill>
                  <a:srgbClr val="5B6E78"/>
                </a:solidFill>
                <a:latin typeface="Calibri" pitchFamily="34" charset="0"/>
                <a:ea typeface="Calibri" pitchFamily="34" charset="-122"/>
                <a:cs typeface="Calibri" pitchFamily="34" charset="-120"/>
              </a:rPr>
              <a:t>Use ECG data to train a classifier and replace fixed thresholds, reporting measured precision and recall.</a:t>
            </a:r>
            <a:endParaRPr lang="en-US" sz="1200" dirty="0"/>
          </a:p>
        </p:txBody>
      </p:sp>
      <p:sp>
        <p:nvSpPr>
          <p:cNvPr id="19" name="Shape 14"/>
          <p:cNvSpPr/>
          <p:nvPr/>
        </p:nvSpPr>
        <p:spPr>
          <a:xfrm>
            <a:off x="4663440" y="2880360"/>
            <a:ext cx="4023360" cy="141732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0" name="Shape 15"/>
          <p:cNvSpPr/>
          <p:nvPr/>
        </p:nvSpPr>
        <p:spPr>
          <a:xfrm>
            <a:off x="4892040" y="3154680"/>
            <a:ext cx="594360" cy="594360"/>
          </a:xfrm>
          <a:prstGeom prst="ellipse">
            <a:avLst/>
          </a:prstGeom>
          <a:solidFill>
            <a:srgbClr val="0E7C86"/>
          </a:solidFill>
          <a:ln w="12700">
            <a:solidFill>
              <a:srgbClr val="0E7C86"/>
            </a:solidFill>
            <a:prstDash val="solid"/>
          </a:ln>
        </p:spPr>
      </p:sp>
      <p:pic>
        <p:nvPicPr>
          <p:cNvPr id="21" name="Image 3" descr="preencoded.png"/>
          <p:cNvPicPr>
            <a:picLocks noChangeAspect="1"/>
          </p:cNvPicPr>
          <p:nvPr/>
        </p:nvPicPr>
        <p:blipFill>
          <a:blip r:embed="rId6"/>
          <a:stretch>
            <a:fillRect/>
          </a:stretch>
        </p:blipFill>
        <p:spPr>
          <a:xfrm>
            <a:off x="5040630" y="3303270"/>
            <a:ext cx="297180" cy="297180"/>
          </a:xfrm>
          <a:prstGeom prst="rect">
            <a:avLst/>
          </a:prstGeom>
        </p:spPr>
      </p:pic>
      <p:sp>
        <p:nvSpPr>
          <p:cNvPr id="22" name="Text 16"/>
          <p:cNvSpPr txBox="1"/>
          <p:nvPr/>
        </p:nvSpPr>
        <p:spPr>
          <a:xfrm>
            <a:off x="5715000" y="3063240"/>
            <a:ext cx="2834640" cy="320040"/>
          </a:xfrm>
          <a:prstGeom prst="rect">
            <a:avLst/>
          </a:prstGeom>
          <a:noFill/>
          <a:ln/>
        </p:spPr>
        <p:txBody>
          <a:bodyPr wrap="square" lIns="0" tIns="0" rIns="0" bIns="0" rtlCol="0" anchor="ctr"/>
          <a:lstStyle/>
          <a:p>
            <a:pPr marL="0" indent="0">
              <a:buNone/>
            </a:pPr>
            <a:r>
              <a:rPr lang="en-US" sz="1500" b="1" dirty="0">
                <a:solidFill>
                  <a:srgbClr val="1B2B34"/>
                </a:solidFill>
                <a:latin typeface="Calibri" pitchFamily="34" charset="0"/>
                <a:ea typeface="Calibri" pitchFamily="34" charset="-122"/>
                <a:cs typeface="Calibri" pitchFamily="34" charset="-120"/>
              </a:rPr>
              <a:t>EHR integration</a:t>
            </a:r>
            <a:endParaRPr lang="en-US" sz="1500" dirty="0"/>
          </a:p>
        </p:txBody>
      </p:sp>
      <p:sp>
        <p:nvSpPr>
          <p:cNvPr id="23" name="Text 17"/>
          <p:cNvSpPr txBox="1"/>
          <p:nvPr/>
        </p:nvSpPr>
        <p:spPr>
          <a:xfrm>
            <a:off x="5715000" y="3410712"/>
            <a:ext cx="2834640" cy="822960"/>
          </a:xfrm>
          <a:prstGeom prst="rect">
            <a:avLst/>
          </a:prstGeom>
          <a:noFill/>
          <a:ln/>
        </p:spPr>
        <p:txBody>
          <a:bodyPr wrap="square" lIns="0" tIns="0" rIns="0" bIns="0" rtlCol="0" anchor="t"/>
          <a:lstStyle/>
          <a:p>
            <a:pPr marL="0" indent="0">
              <a:buNone/>
            </a:pPr>
            <a:r>
              <a:rPr lang="en-US" sz="1200" dirty="0">
                <a:solidFill>
                  <a:srgbClr val="5B6E78"/>
                </a:solidFill>
                <a:latin typeface="Calibri" pitchFamily="34" charset="0"/>
                <a:ea typeface="Calibri" pitchFamily="34" charset="-122"/>
                <a:cs typeface="Calibri" pitchFamily="34" charset="-120"/>
              </a:rPr>
              <a:t>Add a SMART-on-FHIR launch against a sandbox EHR, plus authentication and encryption hardening.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A35"/>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100" b="1" kern="0" spc="300" dirty="0">
                <a:solidFill>
                  <a:srgbClr val="7FD1D8"/>
                </a:solidFill>
                <a:latin typeface="Calibri" pitchFamily="34" charset="0"/>
                <a:ea typeface="Calibri" pitchFamily="34" charset="-122"/>
                <a:cs typeface="Calibri" pitchFamily="34" charset="-120"/>
              </a:rPr>
              <a:t>WRAP-UP</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Project Outcome</a:t>
            </a:r>
            <a:endParaRPr lang="en-US" sz="3200" dirty="0"/>
          </a:p>
        </p:txBody>
      </p:sp>
      <p:sp>
        <p:nvSpPr>
          <p:cNvPr id="4" name="Shape 2"/>
          <p:cNvSpPr/>
          <p:nvPr/>
        </p:nvSpPr>
        <p:spPr>
          <a:xfrm>
            <a:off x="457200" y="1280160"/>
            <a:ext cx="1920240" cy="960120"/>
          </a:xfrm>
          <a:prstGeom prst="rect">
            <a:avLst/>
          </a:prstGeom>
          <a:solidFill>
            <a:srgbClr val="13404F"/>
          </a:solidFill>
          <a:ln w="12700">
            <a:solidFill>
              <a:srgbClr val="13404F"/>
            </a:solidFill>
            <a:prstDash val="solid"/>
          </a:ln>
        </p:spPr>
      </p:sp>
      <p:sp>
        <p:nvSpPr>
          <p:cNvPr id="5" name="Text 3"/>
          <p:cNvSpPr txBox="1"/>
          <p:nvPr/>
        </p:nvSpPr>
        <p:spPr>
          <a:xfrm>
            <a:off x="457200" y="1325880"/>
            <a:ext cx="1920240" cy="548640"/>
          </a:xfrm>
          <a:prstGeom prst="rect">
            <a:avLst/>
          </a:prstGeom>
          <a:noFill/>
          <a:ln/>
        </p:spPr>
        <p:txBody>
          <a:bodyPr wrap="square" lIns="0" tIns="0" rIns="0" bIns="0" rtlCol="0" anchor="ctr"/>
          <a:lstStyle/>
          <a:p>
            <a:pPr marL="0" indent="0" algn="ctr">
              <a:buNone/>
            </a:pPr>
            <a:r>
              <a:rPr lang="en-US" sz="3000" b="1" dirty="0">
                <a:solidFill>
                  <a:srgbClr val="7FD1D8"/>
                </a:solidFill>
                <a:latin typeface="Cambria" pitchFamily="34" charset="0"/>
                <a:ea typeface="Cambria" pitchFamily="34" charset="-122"/>
                <a:cs typeface="Cambria" pitchFamily="34" charset="-120"/>
              </a:rPr>
              <a:t>4 / 4</a:t>
            </a:r>
            <a:endParaRPr lang="en-US" sz="3000" dirty="0"/>
          </a:p>
        </p:txBody>
      </p:sp>
      <p:sp>
        <p:nvSpPr>
          <p:cNvPr id="6" name="Text 4"/>
          <p:cNvSpPr txBox="1"/>
          <p:nvPr/>
        </p:nvSpPr>
        <p:spPr>
          <a:xfrm>
            <a:off x="457200" y="1874520"/>
            <a:ext cx="1920240" cy="274320"/>
          </a:xfrm>
          <a:prstGeom prst="rect">
            <a:avLst/>
          </a:prstGeom>
          <a:noFill/>
          <a:ln/>
        </p:spPr>
        <p:txBody>
          <a:bodyPr wrap="square" lIns="0" tIns="0" rIns="0" bIns="0" rtlCol="0" anchor="ctr"/>
          <a:lstStyle/>
          <a:p>
            <a:pPr marL="0" indent="0" algn="ctr">
              <a:buNone/>
            </a:pPr>
            <a:r>
              <a:rPr lang="en-US" sz="1100" dirty="0">
                <a:solidFill>
                  <a:srgbClr val="B7D3D8"/>
                </a:solidFill>
                <a:latin typeface="Calibri" pitchFamily="34" charset="0"/>
                <a:ea typeface="Calibri" pitchFamily="34" charset="-122"/>
                <a:cs typeface="Calibri" pitchFamily="34" charset="-120"/>
              </a:rPr>
              <a:t>milestones delivered</a:t>
            </a:r>
            <a:endParaRPr lang="en-US" sz="1100" dirty="0"/>
          </a:p>
        </p:txBody>
      </p:sp>
      <p:sp>
        <p:nvSpPr>
          <p:cNvPr id="7" name="Shape 5"/>
          <p:cNvSpPr/>
          <p:nvPr/>
        </p:nvSpPr>
        <p:spPr>
          <a:xfrm>
            <a:off x="2560320" y="1280160"/>
            <a:ext cx="1920240" cy="960120"/>
          </a:xfrm>
          <a:prstGeom prst="rect">
            <a:avLst/>
          </a:prstGeom>
          <a:solidFill>
            <a:srgbClr val="13404F"/>
          </a:solidFill>
          <a:ln w="12700">
            <a:solidFill>
              <a:srgbClr val="13404F"/>
            </a:solidFill>
            <a:prstDash val="solid"/>
          </a:ln>
        </p:spPr>
      </p:sp>
      <p:sp>
        <p:nvSpPr>
          <p:cNvPr id="8" name="Text 6"/>
          <p:cNvSpPr txBox="1"/>
          <p:nvPr/>
        </p:nvSpPr>
        <p:spPr>
          <a:xfrm>
            <a:off x="2560320" y="1325880"/>
            <a:ext cx="1920240" cy="548640"/>
          </a:xfrm>
          <a:prstGeom prst="rect">
            <a:avLst/>
          </a:prstGeom>
          <a:noFill/>
          <a:ln/>
        </p:spPr>
        <p:txBody>
          <a:bodyPr wrap="square" lIns="0" tIns="0" rIns="0" bIns="0" rtlCol="0" anchor="ctr"/>
          <a:lstStyle/>
          <a:p>
            <a:pPr marL="0" indent="0" algn="ctr">
              <a:buNone/>
            </a:pPr>
            <a:r>
              <a:rPr lang="en-US" sz="3000" b="1" dirty="0">
                <a:solidFill>
                  <a:srgbClr val="7FD1D8"/>
                </a:solidFill>
                <a:latin typeface="Cambria" pitchFamily="34" charset="0"/>
                <a:ea typeface="Cambria" pitchFamily="34" charset="-122"/>
                <a:cs typeface="Cambria" pitchFamily="34" charset="-120"/>
              </a:rPr>
              <a:t>5</a:t>
            </a:r>
            <a:endParaRPr lang="en-US" sz="3000" dirty="0"/>
          </a:p>
        </p:txBody>
      </p:sp>
      <p:sp>
        <p:nvSpPr>
          <p:cNvPr id="9" name="Text 7"/>
          <p:cNvSpPr txBox="1"/>
          <p:nvPr/>
        </p:nvSpPr>
        <p:spPr>
          <a:xfrm>
            <a:off x="2560320" y="1874520"/>
            <a:ext cx="1920240" cy="274320"/>
          </a:xfrm>
          <a:prstGeom prst="rect">
            <a:avLst/>
          </a:prstGeom>
          <a:noFill/>
          <a:ln/>
        </p:spPr>
        <p:txBody>
          <a:bodyPr wrap="square" lIns="0" tIns="0" rIns="0" bIns="0" rtlCol="0" anchor="ctr"/>
          <a:lstStyle/>
          <a:p>
            <a:pPr marL="0" indent="0" algn="ctr">
              <a:buNone/>
            </a:pPr>
            <a:r>
              <a:rPr lang="en-US" sz="1100" dirty="0">
                <a:solidFill>
                  <a:srgbClr val="B7D3D8"/>
                </a:solidFill>
                <a:latin typeface="Calibri" pitchFamily="34" charset="0"/>
                <a:ea typeface="Calibri" pitchFamily="34" charset="-122"/>
                <a:cs typeface="Calibri" pitchFamily="34" charset="-120"/>
              </a:rPr>
              <a:t>patient digital twins</a:t>
            </a:r>
            <a:endParaRPr lang="en-US" sz="1100" dirty="0"/>
          </a:p>
        </p:txBody>
      </p:sp>
      <p:sp>
        <p:nvSpPr>
          <p:cNvPr id="10" name="Shape 8"/>
          <p:cNvSpPr/>
          <p:nvPr/>
        </p:nvSpPr>
        <p:spPr>
          <a:xfrm>
            <a:off x="4663440" y="1280160"/>
            <a:ext cx="1920240" cy="960120"/>
          </a:xfrm>
          <a:prstGeom prst="rect">
            <a:avLst/>
          </a:prstGeom>
          <a:solidFill>
            <a:srgbClr val="13404F"/>
          </a:solidFill>
          <a:ln w="12700">
            <a:solidFill>
              <a:srgbClr val="13404F"/>
            </a:solidFill>
            <a:prstDash val="solid"/>
          </a:ln>
        </p:spPr>
      </p:sp>
      <p:sp>
        <p:nvSpPr>
          <p:cNvPr id="11" name="Text 9"/>
          <p:cNvSpPr txBox="1"/>
          <p:nvPr/>
        </p:nvSpPr>
        <p:spPr>
          <a:xfrm>
            <a:off x="4663440" y="1325880"/>
            <a:ext cx="1920240" cy="548640"/>
          </a:xfrm>
          <a:prstGeom prst="rect">
            <a:avLst/>
          </a:prstGeom>
          <a:noFill/>
          <a:ln/>
        </p:spPr>
        <p:txBody>
          <a:bodyPr wrap="square" lIns="0" tIns="0" rIns="0" bIns="0" rtlCol="0" anchor="ctr"/>
          <a:lstStyle/>
          <a:p>
            <a:pPr marL="0" indent="0" algn="ctr">
              <a:buNone/>
            </a:pPr>
            <a:r>
              <a:rPr lang="en-US" sz="3000" b="1" dirty="0">
                <a:solidFill>
                  <a:srgbClr val="7FD1D8"/>
                </a:solidFill>
                <a:latin typeface="Cambria" pitchFamily="34" charset="0"/>
                <a:ea typeface="Cambria" pitchFamily="34" charset="-122"/>
                <a:cs typeface="Cambria" pitchFamily="34" charset="-120"/>
              </a:rPr>
              <a:t>3</a:t>
            </a:r>
            <a:endParaRPr lang="en-US" sz="3000" dirty="0"/>
          </a:p>
        </p:txBody>
      </p:sp>
      <p:sp>
        <p:nvSpPr>
          <p:cNvPr id="12" name="Text 10"/>
          <p:cNvSpPr txBox="1"/>
          <p:nvPr/>
        </p:nvSpPr>
        <p:spPr>
          <a:xfrm>
            <a:off x="4663440" y="1874520"/>
            <a:ext cx="1920240" cy="274320"/>
          </a:xfrm>
          <a:prstGeom prst="rect">
            <a:avLst/>
          </a:prstGeom>
          <a:noFill/>
          <a:ln/>
        </p:spPr>
        <p:txBody>
          <a:bodyPr wrap="square" lIns="0" tIns="0" rIns="0" bIns="0" rtlCol="0" anchor="ctr"/>
          <a:lstStyle/>
          <a:p>
            <a:pPr marL="0" indent="0" algn="ctr">
              <a:buNone/>
            </a:pPr>
            <a:r>
              <a:rPr lang="en-US" sz="1100" dirty="0">
                <a:solidFill>
                  <a:srgbClr val="B7D3D8"/>
                </a:solidFill>
                <a:latin typeface="Calibri" pitchFamily="34" charset="0"/>
                <a:ea typeface="Calibri" pitchFamily="34" charset="-122"/>
                <a:cs typeface="Calibri" pitchFamily="34" charset="-120"/>
              </a:rPr>
              <a:t>simulated hospital nodes</a:t>
            </a:r>
            <a:endParaRPr lang="en-US" sz="1100" dirty="0"/>
          </a:p>
        </p:txBody>
      </p:sp>
      <p:sp>
        <p:nvSpPr>
          <p:cNvPr id="13" name="Shape 11"/>
          <p:cNvSpPr/>
          <p:nvPr/>
        </p:nvSpPr>
        <p:spPr>
          <a:xfrm>
            <a:off x="6766560" y="1280160"/>
            <a:ext cx="1920240" cy="960120"/>
          </a:xfrm>
          <a:prstGeom prst="rect">
            <a:avLst/>
          </a:prstGeom>
          <a:solidFill>
            <a:srgbClr val="13404F"/>
          </a:solidFill>
          <a:ln w="12700">
            <a:solidFill>
              <a:srgbClr val="13404F"/>
            </a:solidFill>
            <a:prstDash val="solid"/>
          </a:ln>
        </p:spPr>
      </p:sp>
      <p:sp>
        <p:nvSpPr>
          <p:cNvPr id="14" name="Text 12"/>
          <p:cNvSpPr txBox="1"/>
          <p:nvPr/>
        </p:nvSpPr>
        <p:spPr>
          <a:xfrm>
            <a:off x="6766560" y="1325880"/>
            <a:ext cx="1920240" cy="548640"/>
          </a:xfrm>
          <a:prstGeom prst="rect">
            <a:avLst/>
          </a:prstGeom>
          <a:noFill/>
          <a:ln/>
        </p:spPr>
        <p:txBody>
          <a:bodyPr wrap="square" lIns="0" tIns="0" rIns="0" bIns="0" rtlCol="0" anchor="ctr"/>
          <a:lstStyle/>
          <a:p>
            <a:pPr marL="0" indent="0" algn="ctr">
              <a:buNone/>
            </a:pPr>
            <a:r>
              <a:rPr lang="en-US" sz="3000" b="1" dirty="0">
                <a:solidFill>
                  <a:srgbClr val="7FD1D8"/>
                </a:solidFill>
                <a:latin typeface="Cambria" pitchFamily="34" charset="0"/>
                <a:ea typeface="Cambria" pitchFamily="34" charset="-122"/>
                <a:cs typeface="Cambria" pitchFamily="34" charset="-120"/>
              </a:rPr>
              <a:t>3.2 min</a:t>
            </a:r>
            <a:endParaRPr lang="en-US" sz="3000" dirty="0"/>
          </a:p>
        </p:txBody>
      </p:sp>
      <p:sp>
        <p:nvSpPr>
          <p:cNvPr id="15" name="Text 13"/>
          <p:cNvSpPr txBox="1"/>
          <p:nvPr/>
        </p:nvSpPr>
        <p:spPr>
          <a:xfrm>
            <a:off x="6766560" y="1874520"/>
            <a:ext cx="1920240" cy="274320"/>
          </a:xfrm>
          <a:prstGeom prst="rect">
            <a:avLst/>
          </a:prstGeom>
          <a:noFill/>
          <a:ln/>
        </p:spPr>
        <p:txBody>
          <a:bodyPr wrap="square" lIns="0" tIns="0" rIns="0" bIns="0" rtlCol="0" anchor="ctr"/>
          <a:lstStyle/>
          <a:p>
            <a:pPr marL="0" indent="0" algn="ctr">
              <a:buNone/>
            </a:pPr>
            <a:r>
              <a:rPr lang="en-US" sz="1100" dirty="0">
                <a:solidFill>
                  <a:srgbClr val="B7D3D8"/>
                </a:solidFill>
                <a:latin typeface="Calibri" pitchFamily="34" charset="0"/>
                <a:ea typeface="Calibri" pitchFamily="34" charset="-122"/>
                <a:cs typeface="Calibri" pitchFamily="34" charset="-120"/>
              </a:rPr>
              <a:t>alert response target</a:t>
            </a:r>
            <a:endParaRPr lang="en-US" sz="1100" dirty="0"/>
          </a:p>
        </p:txBody>
      </p:sp>
      <p:sp>
        <p:nvSpPr>
          <p:cNvPr id="16" name="Shape 14"/>
          <p:cNvSpPr/>
          <p:nvPr/>
        </p:nvSpPr>
        <p:spPr>
          <a:xfrm>
            <a:off x="457200" y="2423160"/>
            <a:ext cx="8229600" cy="1691640"/>
          </a:xfrm>
          <a:prstGeom prst="rect">
            <a:avLst/>
          </a:prstGeom>
          <a:solidFill>
            <a:srgbClr val="13404F"/>
          </a:solidFill>
          <a:ln w="12700">
            <a:solidFill>
              <a:srgbClr val="13404F"/>
            </a:solidFill>
            <a:prstDash val="solid"/>
          </a:ln>
        </p:spPr>
      </p:sp>
      <p:sp>
        <p:nvSpPr>
          <p:cNvPr id="17" name="Text 15"/>
          <p:cNvSpPr txBox="1"/>
          <p:nvPr/>
        </p:nvSpPr>
        <p:spPr>
          <a:xfrm>
            <a:off x="640080" y="2514600"/>
            <a:ext cx="3657600" cy="274320"/>
          </a:xfrm>
          <a:prstGeom prst="rect">
            <a:avLst/>
          </a:prstGeom>
          <a:noFill/>
          <a:ln/>
        </p:spPr>
        <p:txBody>
          <a:bodyPr wrap="square" lIns="0" tIns="0" rIns="0" bIns="0" rtlCol="0" anchor="ctr"/>
          <a:lstStyle/>
          <a:p>
            <a:pPr marL="0" indent="0">
              <a:buNone/>
            </a:pPr>
            <a:r>
              <a:rPr lang="en-US" sz="1400" b="1" dirty="0">
                <a:solidFill>
                  <a:srgbClr val="7FD1D8"/>
                </a:solidFill>
                <a:latin typeface="Calibri" pitchFamily="34" charset="0"/>
                <a:ea typeface="Calibri" pitchFamily="34" charset="-122"/>
                <a:cs typeface="Calibri" pitchFamily="34" charset="-120"/>
              </a:rPr>
              <a:t>Works end-to-end</a:t>
            </a:r>
            <a:endParaRPr lang="en-US" sz="1400" dirty="0"/>
          </a:p>
        </p:txBody>
      </p:sp>
      <p:sp>
        <p:nvSpPr>
          <p:cNvPr id="18" name="Text 16"/>
          <p:cNvSpPr txBox="1"/>
          <p:nvPr/>
        </p:nvSpPr>
        <p:spPr>
          <a:xfrm>
            <a:off x="640080" y="2852928"/>
            <a:ext cx="7966038" cy="118872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E8F1F3"/>
                </a:solidFill>
                <a:latin typeface="Calibri" pitchFamily="34" charset="0"/>
                <a:ea typeface="Calibri" pitchFamily="34" charset="-122"/>
                <a:cs typeface="Calibri" pitchFamily="34" charset="-120"/>
              </a:rPr>
              <a:t>Lab/wearable → FHIR → Kafka → MongoDB twin</a:t>
            </a:r>
            <a:endParaRPr lang="en-US" dirty="0"/>
          </a:p>
          <a:p>
            <a:pPr marL="342900" indent="-342900">
              <a:spcAft>
                <a:spcPts val="500"/>
              </a:spcAft>
              <a:buSzPct val="100000"/>
              <a:buChar char="•"/>
            </a:pPr>
            <a:r>
              <a:rPr lang="en-US" dirty="0">
                <a:solidFill>
                  <a:srgbClr val="E8F1F3"/>
                </a:solidFill>
                <a:latin typeface="Calibri" pitchFamily="34" charset="0"/>
                <a:ea typeface="Calibri" pitchFamily="34" charset="-122"/>
                <a:cs typeface="Calibri" pitchFamily="34" charset="-120"/>
              </a:rPr>
              <a:t>Alert with SLA clock → mobile claim flow</a:t>
            </a:r>
            <a:endParaRPr lang="en-US" dirty="0"/>
          </a:p>
          <a:p>
            <a:pPr marL="342900" indent="-342900">
              <a:spcAft>
                <a:spcPts val="500"/>
              </a:spcAft>
              <a:buSzPct val="100000"/>
              <a:buChar char="•"/>
            </a:pPr>
            <a:r>
              <a:rPr lang="en-US" dirty="0">
                <a:solidFill>
                  <a:srgbClr val="E8F1F3"/>
                </a:solidFill>
                <a:latin typeface="Calibri" pitchFamily="34" charset="0"/>
                <a:ea typeface="Calibri" pitchFamily="34" charset="-122"/>
                <a:cs typeface="Calibri" pitchFamily="34" charset="-120"/>
              </a:rPr>
              <a:t>Careplan generator with guideline checks</a:t>
            </a:r>
            <a:endParaRPr lang="en-US" dirty="0"/>
          </a:p>
        </p:txBody>
      </p:sp>
      <p:sp>
        <p:nvSpPr>
          <p:cNvPr id="22" name="Text 20"/>
          <p:cNvSpPr txBox="1"/>
          <p:nvPr/>
        </p:nvSpPr>
        <p:spPr>
          <a:xfrm>
            <a:off x="457200" y="4297680"/>
            <a:ext cx="8229600" cy="502920"/>
          </a:xfrm>
          <a:prstGeom prst="rect">
            <a:avLst/>
          </a:prstGeom>
          <a:noFill/>
          <a:ln/>
        </p:spPr>
        <p:txBody>
          <a:bodyPr wrap="square" lIns="0" tIns="0" rIns="0" bIns="0" rtlCol="0" anchor="t"/>
          <a:lstStyle/>
          <a:p>
            <a:pPr marL="0" indent="0">
              <a:buNone/>
            </a:pPr>
            <a:r>
              <a:rPr lang="en-US" sz="1250" i="1" dirty="0">
                <a:solidFill>
                  <a:srgbClr val="C9DDE1"/>
                </a:solidFill>
                <a:latin typeface="Calibri" pitchFamily="34" charset="0"/>
                <a:ea typeface="Calibri" pitchFamily="34" charset="-122"/>
                <a:cs typeface="Calibri" pitchFamily="34" charset="-120"/>
              </a:rPr>
              <a:t>What I learned: modelling health data in FHIR, event-driven design with Kafka, how federated averaging works, and being explicit about what is simulated.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A35"/>
        </a:solidFill>
        <a:effectLst/>
      </p:bgPr>
    </p:bg>
    <p:spTree>
      <p:nvGrpSpPr>
        <p:cNvPr id="1" name=""/>
        <p:cNvGrpSpPr/>
        <p:nvPr/>
      </p:nvGrpSpPr>
      <p:grpSpPr>
        <a:xfrm>
          <a:off x="0" y="0"/>
          <a:ext cx="0" cy="0"/>
          <a:chOff x="0" y="0"/>
          <a:chExt cx="0" cy="0"/>
        </a:xfrm>
      </p:grpSpPr>
      <p:sp>
        <p:nvSpPr>
          <p:cNvPr id="2" name="Text 0"/>
          <p:cNvSpPr txBox="1"/>
          <p:nvPr/>
        </p:nvSpPr>
        <p:spPr>
          <a:xfrm>
            <a:off x="457200" y="1371600"/>
            <a:ext cx="8229600" cy="274320"/>
          </a:xfrm>
          <a:prstGeom prst="rect">
            <a:avLst/>
          </a:prstGeom>
          <a:noFill/>
          <a:ln/>
        </p:spPr>
        <p:txBody>
          <a:bodyPr wrap="square" lIns="0" tIns="0" rIns="0" bIns="0" rtlCol="0" anchor="ctr"/>
          <a:lstStyle/>
          <a:p>
            <a:pPr marL="0" indent="0">
              <a:buNone/>
            </a:pPr>
            <a:r>
              <a:rPr lang="en-US" sz="1100" b="1" kern="0" spc="300" dirty="0">
                <a:solidFill>
                  <a:srgbClr val="7FD1D8"/>
                </a:solidFill>
                <a:latin typeface="Calibri" pitchFamily="34" charset="0"/>
                <a:ea typeface="Calibri" pitchFamily="34" charset="-122"/>
                <a:cs typeface="Calibri" pitchFamily="34" charset="-120"/>
              </a:rPr>
              <a:t>THANK YOU FOR YOUR TIME</a:t>
            </a:r>
            <a:endParaRPr lang="en-US" sz="1100" dirty="0"/>
          </a:p>
        </p:txBody>
      </p:sp>
      <p:sp>
        <p:nvSpPr>
          <p:cNvPr id="3" name="Text 1"/>
          <p:cNvSpPr txBox="1"/>
          <p:nvPr/>
        </p:nvSpPr>
        <p:spPr>
          <a:xfrm>
            <a:off x="457200" y="1691640"/>
            <a:ext cx="8229600"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4" name="Shape 2"/>
          <p:cNvSpPr/>
          <p:nvPr/>
        </p:nvSpPr>
        <p:spPr>
          <a:xfrm>
            <a:off x="365760" y="4434840"/>
            <a:ext cx="329184" cy="0"/>
          </a:xfrm>
          <a:prstGeom prst="line">
            <a:avLst/>
          </a:prstGeom>
          <a:noFill/>
          <a:ln w="28575">
            <a:solidFill>
              <a:srgbClr val="E4572E"/>
            </a:solidFill>
            <a:prstDash val="solid"/>
          </a:ln>
        </p:spPr>
      </p:sp>
      <p:sp>
        <p:nvSpPr>
          <p:cNvPr id="5" name="Shape 3"/>
          <p:cNvSpPr/>
          <p:nvPr/>
        </p:nvSpPr>
        <p:spPr>
          <a:xfrm flipV="1">
            <a:off x="694944" y="4361688"/>
            <a:ext cx="109728" cy="73152"/>
          </a:xfrm>
          <a:prstGeom prst="line">
            <a:avLst/>
          </a:prstGeom>
          <a:noFill/>
          <a:ln w="28575">
            <a:solidFill>
              <a:srgbClr val="E4572E"/>
            </a:solidFill>
            <a:prstDash val="solid"/>
          </a:ln>
        </p:spPr>
      </p:sp>
      <p:sp>
        <p:nvSpPr>
          <p:cNvPr id="6" name="Shape 4"/>
          <p:cNvSpPr/>
          <p:nvPr/>
        </p:nvSpPr>
        <p:spPr>
          <a:xfrm>
            <a:off x="804672" y="4361688"/>
            <a:ext cx="109728" cy="73152"/>
          </a:xfrm>
          <a:prstGeom prst="line">
            <a:avLst/>
          </a:prstGeom>
          <a:noFill/>
          <a:ln w="28575">
            <a:solidFill>
              <a:srgbClr val="E4572E"/>
            </a:solidFill>
            <a:prstDash val="solid"/>
          </a:ln>
        </p:spPr>
      </p:sp>
      <p:sp>
        <p:nvSpPr>
          <p:cNvPr id="7" name="Shape 5"/>
          <p:cNvSpPr/>
          <p:nvPr/>
        </p:nvSpPr>
        <p:spPr>
          <a:xfrm>
            <a:off x="914400" y="4434840"/>
            <a:ext cx="153619" cy="0"/>
          </a:xfrm>
          <a:prstGeom prst="line">
            <a:avLst/>
          </a:prstGeom>
          <a:noFill/>
          <a:ln w="28575">
            <a:solidFill>
              <a:srgbClr val="E4572E"/>
            </a:solidFill>
            <a:prstDash val="solid"/>
          </a:ln>
        </p:spPr>
      </p:sp>
      <p:sp>
        <p:nvSpPr>
          <p:cNvPr id="8" name="Shape 6"/>
          <p:cNvSpPr/>
          <p:nvPr/>
        </p:nvSpPr>
        <p:spPr>
          <a:xfrm>
            <a:off x="1068019" y="4434840"/>
            <a:ext cx="65837" cy="54864"/>
          </a:xfrm>
          <a:prstGeom prst="line">
            <a:avLst/>
          </a:prstGeom>
          <a:noFill/>
          <a:ln w="28575">
            <a:solidFill>
              <a:srgbClr val="E4572E"/>
            </a:solidFill>
            <a:prstDash val="solid"/>
          </a:ln>
        </p:spPr>
      </p:sp>
      <p:sp>
        <p:nvSpPr>
          <p:cNvPr id="9" name="Shape 7"/>
          <p:cNvSpPr/>
          <p:nvPr/>
        </p:nvSpPr>
        <p:spPr>
          <a:xfrm flipV="1">
            <a:off x="1133856" y="3931920"/>
            <a:ext cx="109728" cy="557784"/>
          </a:xfrm>
          <a:prstGeom prst="line">
            <a:avLst/>
          </a:prstGeom>
          <a:noFill/>
          <a:ln w="28575">
            <a:solidFill>
              <a:srgbClr val="E4572E"/>
            </a:solidFill>
            <a:prstDash val="solid"/>
          </a:ln>
        </p:spPr>
      </p:sp>
      <p:sp>
        <p:nvSpPr>
          <p:cNvPr id="10" name="Shape 8"/>
          <p:cNvSpPr/>
          <p:nvPr/>
        </p:nvSpPr>
        <p:spPr>
          <a:xfrm>
            <a:off x="1243584" y="3931920"/>
            <a:ext cx="109728" cy="758952"/>
          </a:xfrm>
          <a:prstGeom prst="line">
            <a:avLst/>
          </a:prstGeom>
          <a:noFill/>
          <a:ln w="28575">
            <a:solidFill>
              <a:srgbClr val="E4572E"/>
            </a:solidFill>
            <a:prstDash val="solid"/>
          </a:ln>
        </p:spPr>
      </p:sp>
      <p:sp>
        <p:nvSpPr>
          <p:cNvPr id="11" name="Shape 9"/>
          <p:cNvSpPr/>
          <p:nvPr/>
        </p:nvSpPr>
        <p:spPr>
          <a:xfrm flipV="1">
            <a:off x="1353312" y="4434840"/>
            <a:ext cx="109728" cy="256032"/>
          </a:xfrm>
          <a:prstGeom prst="line">
            <a:avLst/>
          </a:prstGeom>
          <a:noFill/>
          <a:ln w="28575">
            <a:solidFill>
              <a:srgbClr val="E4572E"/>
            </a:solidFill>
            <a:prstDash val="solid"/>
          </a:ln>
        </p:spPr>
      </p:sp>
      <p:sp>
        <p:nvSpPr>
          <p:cNvPr id="12" name="Shape 10"/>
          <p:cNvSpPr/>
          <p:nvPr/>
        </p:nvSpPr>
        <p:spPr>
          <a:xfrm>
            <a:off x="1463040" y="4434840"/>
            <a:ext cx="219456" cy="0"/>
          </a:xfrm>
          <a:prstGeom prst="line">
            <a:avLst/>
          </a:prstGeom>
          <a:noFill/>
          <a:ln w="28575">
            <a:solidFill>
              <a:srgbClr val="E4572E"/>
            </a:solidFill>
            <a:prstDash val="solid"/>
          </a:ln>
        </p:spPr>
      </p:sp>
      <p:sp>
        <p:nvSpPr>
          <p:cNvPr id="13" name="Shape 11"/>
          <p:cNvSpPr/>
          <p:nvPr/>
        </p:nvSpPr>
        <p:spPr>
          <a:xfrm flipV="1">
            <a:off x="1682496" y="4315968"/>
            <a:ext cx="175565" cy="118872"/>
          </a:xfrm>
          <a:prstGeom prst="line">
            <a:avLst/>
          </a:prstGeom>
          <a:noFill/>
          <a:ln w="28575">
            <a:solidFill>
              <a:srgbClr val="E4572E"/>
            </a:solidFill>
            <a:prstDash val="solid"/>
          </a:ln>
        </p:spPr>
      </p:sp>
      <p:sp>
        <p:nvSpPr>
          <p:cNvPr id="14" name="Shape 12"/>
          <p:cNvSpPr/>
          <p:nvPr/>
        </p:nvSpPr>
        <p:spPr>
          <a:xfrm>
            <a:off x="1858061" y="4315968"/>
            <a:ext cx="175565" cy="118872"/>
          </a:xfrm>
          <a:prstGeom prst="line">
            <a:avLst/>
          </a:prstGeom>
          <a:noFill/>
          <a:ln w="28575">
            <a:solidFill>
              <a:srgbClr val="E4572E"/>
            </a:solidFill>
            <a:prstDash val="solid"/>
          </a:ln>
        </p:spPr>
      </p:sp>
      <p:sp>
        <p:nvSpPr>
          <p:cNvPr id="15" name="Shape 13"/>
          <p:cNvSpPr/>
          <p:nvPr/>
        </p:nvSpPr>
        <p:spPr>
          <a:xfrm>
            <a:off x="2033626" y="4434840"/>
            <a:ext cx="526694" cy="0"/>
          </a:xfrm>
          <a:prstGeom prst="line">
            <a:avLst/>
          </a:prstGeom>
          <a:noFill/>
          <a:ln w="28575">
            <a:solidFill>
              <a:srgbClr val="E4572E"/>
            </a:solidFill>
            <a:prstDash val="solid"/>
          </a:ln>
        </p:spPr>
      </p:sp>
      <p:sp>
        <p:nvSpPr>
          <p:cNvPr id="16" name="Shape 14"/>
          <p:cNvSpPr/>
          <p:nvPr/>
        </p:nvSpPr>
        <p:spPr>
          <a:xfrm>
            <a:off x="2560320" y="4434840"/>
            <a:ext cx="329184" cy="0"/>
          </a:xfrm>
          <a:prstGeom prst="line">
            <a:avLst/>
          </a:prstGeom>
          <a:noFill/>
          <a:ln w="28575">
            <a:solidFill>
              <a:srgbClr val="E4572E"/>
            </a:solidFill>
            <a:prstDash val="solid"/>
          </a:ln>
        </p:spPr>
      </p:sp>
      <p:sp>
        <p:nvSpPr>
          <p:cNvPr id="17" name="Shape 15"/>
          <p:cNvSpPr/>
          <p:nvPr/>
        </p:nvSpPr>
        <p:spPr>
          <a:xfrm flipV="1">
            <a:off x="2889504" y="4361688"/>
            <a:ext cx="109728" cy="73152"/>
          </a:xfrm>
          <a:prstGeom prst="line">
            <a:avLst/>
          </a:prstGeom>
          <a:noFill/>
          <a:ln w="28575">
            <a:solidFill>
              <a:srgbClr val="E4572E"/>
            </a:solidFill>
            <a:prstDash val="solid"/>
          </a:ln>
        </p:spPr>
      </p:sp>
      <p:sp>
        <p:nvSpPr>
          <p:cNvPr id="18" name="Shape 16"/>
          <p:cNvSpPr/>
          <p:nvPr/>
        </p:nvSpPr>
        <p:spPr>
          <a:xfrm>
            <a:off x="2999232" y="4361688"/>
            <a:ext cx="109728" cy="73152"/>
          </a:xfrm>
          <a:prstGeom prst="line">
            <a:avLst/>
          </a:prstGeom>
          <a:noFill/>
          <a:ln w="28575">
            <a:solidFill>
              <a:srgbClr val="E4572E"/>
            </a:solidFill>
            <a:prstDash val="solid"/>
          </a:ln>
        </p:spPr>
      </p:sp>
      <p:sp>
        <p:nvSpPr>
          <p:cNvPr id="19" name="Shape 17"/>
          <p:cNvSpPr/>
          <p:nvPr/>
        </p:nvSpPr>
        <p:spPr>
          <a:xfrm>
            <a:off x="3108960" y="4434840"/>
            <a:ext cx="153619" cy="0"/>
          </a:xfrm>
          <a:prstGeom prst="line">
            <a:avLst/>
          </a:prstGeom>
          <a:noFill/>
          <a:ln w="28575">
            <a:solidFill>
              <a:srgbClr val="E4572E"/>
            </a:solidFill>
            <a:prstDash val="solid"/>
          </a:ln>
        </p:spPr>
      </p:sp>
      <p:sp>
        <p:nvSpPr>
          <p:cNvPr id="20" name="Shape 18"/>
          <p:cNvSpPr/>
          <p:nvPr/>
        </p:nvSpPr>
        <p:spPr>
          <a:xfrm>
            <a:off x="3262579" y="4434840"/>
            <a:ext cx="65837" cy="54864"/>
          </a:xfrm>
          <a:prstGeom prst="line">
            <a:avLst/>
          </a:prstGeom>
          <a:noFill/>
          <a:ln w="28575">
            <a:solidFill>
              <a:srgbClr val="E4572E"/>
            </a:solidFill>
            <a:prstDash val="solid"/>
          </a:ln>
        </p:spPr>
      </p:sp>
      <p:sp>
        <p:nvSpPr>
          <p:cNvPr id="21" name="Shape 19"/>
          <p:cNvSpPr/>
          <p:nvPr/>
        </p:nvSpPr>
        <p:spPr>
          <a:xfrm flipV="1">
            <a:off x="3328416" y="3931920"/>
            <a:ext cx="109728" cy="557784"/>
          </a:xfrm>
          <a:prstGeom prst="line">
            <a:avLst/>
          </a:prstGeom>
          <a:noFill/>
          <a:ln w="28575">
            <a:solidFill>
              <a:srgbClr val="E4572E"/>
            </a:solidFill>
            <a:prstDash val="solid"/>
          </a:ln>
        </p:spPr>
      </p:sp>
      <p:sp>
        <p:nvSpPr>
          <p:cNvPr id="22" name="Shape 20"/>
          <p:cNvSpPr/>
          <p:nvPr/>
        </p:nvSpPr>
        <p:spPr>
          <a:xfrm>
            <a:off x="3438144" y="3931920"/>
            <a:ext cx="109728" cy="758952"/>
          </a:xfrm>
          <a:prstGeom prst="line">
            <a:avLst/>
          </a:prstGeom>
          <a:noFill/>
          <a:ln w="28575">
            <a:solidFill>
              <a:srgbClr val="E4572E"/>
            </a:solidFill>
            <a:prstDash val="solid"/>
          </a:ln>
        </p:spPr>
      </p:sp>
      <p:sp>
        <p:nvSpPr>
          <p:cNvPr id="23" name="Shape 21"/>
          <p:cNvSpPr/>
          <p:nvPr/>
        </p:nvSpPr>
        <p:spPr>
          <a:xfrm flipV="1">
            <a:off x="3547872" y="4434840"/>
            <a:ext cx="109728" cy="256032"/>
          </a:xfrm>
          <a:prstGeom prst="line">
            <a:avLst/>
          </a:prstGeom>
          <a:noFill/>
          <a:ln w="28575">
            <a:solidFill>
              <a:srgbClr val="E4572E"/>
            </a:solidFill>
            <a:prstDash val="solid"/>
          </a:ln>
        </p:spPr>
      </p:sp>
      <p:sp>
        <p:nvSpPr>
          <p:cNvPr id="24" name="Shape 22"/>
          <p:cNvSpPr/>
          <p:nvPr/>
        </p:nvSpPr>
        <p:spPr>
          <a:xfrm>
            <a:off x="3657600" y="4434840"/>
            <a:ext cx="219456" cy="0"/>
          </a:xfrm>
          <a:prstGeom prst="line">
            <a:avLst/>
          </a:prstGeom>
          <a:noFill/>
          <a:ln w="28575">
            <a:solidFill>
              <a:srgbClr val="E4572E"/>
            </a:solidFill>
            <a:prstDash val="solid"/>
          </a:ln>
        </p:spPr>
      </p:sp>
      <p:sp>
        <p:nvSpPr>
          <p:cNvPr id="25" name="Shape 23"/>
          <p:cNvSpPr/>
          <p:nvPr/>
        </p:nvSpPr>
        <p:spPr>
          <a:xfrm flipV="1">
            <a:off x="3877056" y="4315968"/>
            <a:ext cx="175565" cy="118872"/>
          </a:xfrm>
          <a:prstGeom prst="line">
            <a:avLst/>
          </a:prstGeom>
          <a:noFill/>
          <a:ln w="28575">
            <a:solidFill>
              <a:srgbClr val="E4572E"/>
            </a:solidFill>
            <a:prstDash val="solid"/>
          </a:ln>
        </p:spPr>
      </p:sp>
      <p:sp>
        <p:nvSpPr>
          <p:cNvPr id="26" name="Shape 24"/>
          <p:cNvSpPr/>
          <p:nvPr/>
        </p:nvSpPr>
        <p:spPr>
          <a:xfrm>
            <a:off x="4052621" y="4315968"/>
            <a:ext cx="175565" cy="118872"/>
          </a:xfrm>
          <a:prstGeom prst="line">
            <a:avLst/>
          </a:prstGeom>
          <a:noFill/>
          <a:ln w="28575">
            <a:solidFill>
              <a:srgbClr val="E4572E"/>
            </a:solidFill>
            <a:prstDash val="solid"/>
          </a:ln>
        </p:spPr>
      </p:sp>
      <p:sp>
        <p:nvSpPr>
          <p:cNvPr id="27" name="Shape 25"/>
          <p:cNvSpPr/>
          <p:nvPr/>
        </p:nvSpPr>
        <p:spPr>
          <a:xfrm>
            <a:off x="4228186" y="4434840"/>
            <a:ext cx="526694" cy="0"/>
          </a:xfrm>
          <a:prstGeom prst="line">
            <a:avLst/>
          </a:prstGeom>
          <a:noFill/>
          <a:ln w="28575">
            <a:solidFill>
              <a:srgbClr val="E4572E"/>
            </a:solidFill>
            <a:prstDash val="solid"/>
          </a:ln>
        </p:spPr>
      </p:sp>
      <p:sp>
        <p:nvSpPr>
          <p:cNvPr id="28" name="Shape 26"/>
          <p:cNvSpPr/>
          <p:nvPr/>
        </p:nvSpPr>
        <p:spPr>
          <a:xfrm>
            <a:off x="4754880" y="4434840"/>
            <a:ext cx="329184" cy="0"/>
          </a:xfrm>
          <a:prstGeom prst="line">
            <a:avLst/>
          </a:prstGeom>
          <a:noFill/>
          <a:ln w="28575">
            <a:solidFill>
              <a:srgbClr val="E4572E"/>
            </a:solidFill>
            <a:prstDash val="solid"/>
          </a:ln>
        </p:spPr>
      </p:sp>
      <p:sp>
        <p:nvSpPr>
          <p:cNvPr id="29" name="Shape 27"/>
          <p:cNvSpPr/>
          <p:nvPr/>
        </p:nvSpPr>
        <p:spPr>
          <a:xfrm flipV="1">
            <a:off x="5084064" y="4361688"/>
            <a:ext cx="109728" cy="73152"/>
          </a:xfrm>
          <a:prstGeom prst="line">
            <a:avLst/>
          </a:prstGeom>
          <a:noFill/>
          <a:ln w="28575">
            <a:solidFill>
              <a:srgbClr val="E4572E"/>
            </a:solidFill>
            <a:prstDash val="solid"/>
          </a:ln>
        </p:spPr>
      </p:sp>
      <p:sp>
        <p:nvSpPr>
          <p:cNvPr id="30" name="Shape 28"/>
          <p:cNvSpPr/>
          <p:nvPr/>
        </p:nvSpPr>
        <p:spPr>
          <a:xfrm>
            <a:off x="5193792" y="4361688"/>
            <a:ext cx="109728" cy="73152"/>
          </a:xfrm>
          <a:prstGeom prst="line">
            <a:avLst/>
          </a:prstGeom>
          <a:noFill/>
          <a:ln w="28575">
            <a:solidFill>
              <a:srgbClr val="E4572E"/>
            </a:solidFill>
            <a:prstDash val="solid"/>
          </a:ln>
        </p:spPr>
      </p:sp>
      <p:sp>
        <p:nvSpPr>
          <p:cNvPr id="31" name="Shape 29"/>
          <p:cNvSpPr/>
          <p:nvPr/>
        </p:nvSpPr>
        <p:spPr>
          <a:xfrm>
            <a:off x="5303520" y="4434840"/>
            <a:ext cx="153619" cy="0"/>
          </a:xfrm>
          <a:prstGeom prst="line">
            <a:avLst/>
          </a:prstGeom>
          <a:noFill/>
          <a:ln w="28575">
            <a:solidFill>
              <a:srgbClr val="E4572E"/>
            </a:solidFill>
            <a:prstDash val="solid"/>
          </a:ln>
        </p:spPr>
      </p:sp>
      <p:sp>
        <p:nvSpPr>
          <p:cNvPr id="32" name="Shape 30"/>
          <p:cNvSpPr/>
          <p:nvPr/>
        </p:nvSpPr>
        <p:spPr>
          <a:xfrm>
            <a:off x="5457139" y="4434840"/>
            <a:ext cx="65837" cy="54864"/>
          </a:xfrm>
          <a:prstGeom prst="line">
            <a:avLst/>
          </a:prstGeom>
          <a:noFill/>
          <a:ln w="28575">
            <a:solidFill>
              <a:srgbClr val="E4572E"/>
            </a:solidFill>
            <a:prstDash val="solid"/>
          </a:ln>
        </p:spPr>
      </p:sp>
      <p:sp>
        <p:nvSpPr>
          <p:cNvPr id="33" name="Shape 31"/>
          <p:cNvSpPr/>
          <p:nvPr/>
        </p:nvSpPr>
        <p:spPr>
          <a:xfrm flipV="1">
            <a:off x="5522976" y="3931920"/>
            <a:ext cx="109728" cy="557784"/>
          </a:xfrm>
          <a:prstGeom prst="line">
            <a:avLst/>
          </a:prstGeom>
          <a:noFill/>
          <a:ln w="28575">
            <a:solidFill>
              <a:srgbClr val="E4572E"/>
            </a:solidFill>
            <a:prstDash val="solid"/>
          </a:ln>
        </p:spPr>
      </p:sp>
      <p:sp>
        <p:nvSpPr>
          <p:cNvPr id="34" name="Shape 32"/>
          <p:cNvSpPr/>
          <p:nvPr/>
        </p:nvSpPr>
        <p:spPr>
          <a:xfrm>
            <a:off x="5632704" y="3931920"/>
            <a:ext cx="109728" cy="758952"/>
          </a:xfrm>
          <a:prstGeom prst="line">
            <a:avLst/>
          </a:prstGeom>
          <a:noFill/>
          <a:ln w="28575">
            <a:solidFill>
              <a:srgbClr val="E4572E"/>
            </a:solidFill>
            <a:prstDash val="solid"/>
          </a:ln>
        </p:spPr>
      </p:sp>
      <p:sp>
        <p:nvSpPr>
          <p:cNvPr id="35" name="Shape 33"/>
          <p:cNvSpPr/>
          <p:nvPr/>
        </p:nvSpPr>
        <p:spPr>
          <a:xfrm flipV="1">
            <a:off x="5742432" y="4434840"/>
            <a:ext cx="109728" cy="256032"/>
          </a:xfrm>
          <a:prstGeom prst="line">
            <a:avLst/>
          </a:prstGeom>
          <a:noFill/>
          <a:ln w="28575">
            <a:solidFill>
              <a:srgbClr val="E4572E"/>
            </a:solidFill>
            <a:prstDash val="solid"/>
          </a:ln>
        </p:spPr>
      </p:sp>
      <p:sp>
        <p:nvSpPr>
          <p:cNvPr id="36" name="Shape 34"/>
          <p:cNvSpPr/>
          <p:nvPr/>
        </p:nvSpPr>
        <p:spPr>
          <a:xfrm>
            <a:off x="5852160" y="4434840"/>
            <a:ext cx="219456" cy="0"/>
          </a:xfrm>
          <a:prstGeom prst="line">
            <a:avLst/>
          </a:prstGeom>
          <a:noFill/>
          <a:ln w="28575">
            <a:solidFill>
              <a:srgbClr val="E4572E"/>
            </a:solidFill>
            <a:prstDash val="solid"/>
          </a:ln>
        </p:spPr>
      </p:sp>
      <p:sp>
        <p:nvSpPr>
          <p:cNvPr id="37" name="Shape 35"/>
          <p:cNvSpPr/>
          <p:nvPr/>
        </p:nvSpPr>
        <p:spPr>
          <a:xfrm flipV="1">
            <a:off x="6071616" y="4315968"/>
            <a:ext cx="175565" cy="118872"/>
          </a:xfrm>
          <a:prstGeom prst="line">
            <a:avLst/>
          </a:prstGeom>
          <a:noFill/>
          <a:ln w="28575">
            <a:solidFill>
              <a:srgbClr val="E4572E"/>
            </a:solidFill>
            <a:prstDash val="solid"/>
          </a:ln>
        </p:spPr>
      </p:sp>
      <p:sp>
        <p:nvSpPr>
          <p:cNvPr id="38" name="Shape 36"/>
          <p:cNvSpPr/>
          <p:nvPr/>
        </p:nvSpPr>
        <p:spPr>
          <a:xfrm>
            <a:off x="6247181" y="4315968"/>
            <a:ext cx="175565" cy="118872"/>
          </a:xfrm>
          <a:prstGeom prst="line">
            <a:avLst/>
          </a:prstGeom>
          <a:noFill/>
          <a:ln w="28575">
            <a:solidFill>
              <a:srgbClr val="E4572E"/>
            </a:solidFill>
            <a:prstDash val="solid"/>
          </a:ln>
        </p:spPr>
      </p:sp>
      <p:sp>
        <p:nvSpPr>
          <p:cNvPr id="39" name="Shape 37"/>
          <p:cNvSpPr/>
          <p:nvPr/>
        </p:nvSpPr>
        <p:spPr>
          <a:xfrm>
            <a:off x="6422746" y="4434840"/>
            <a:ext cx="526694" cy="0"/>
          </a:xfrm>
          <a:prstGeom prst="line">
            <a:avLst/>
          </a:prstGeom>
          <a:noFill/>
          <a:ln w="28575">
            <a:solidFill>
              <a:srgbClr val="E4572E"/>
            </a:solidFill>
            <a:prstDash val="solid"/>
          </a:ln>
        </p:spPr>
      </p:sp>
      <p:sp>
        <p:nvSpPr>
          <p:cNvPr id="40" name="Shape 38"/>
          <p:cNvSpPr/>
          <p:nvPr/>
        </p:nvSpPr>
        <p:spPr>
          <a:xfrm>
            <a:off x="6949440" y="4434840"/>
            <a:ext cx="329184" cy="0"/>
          </a:xfrm>
          <a:prstGeom prst="line">
            <a:avLst/>
          </a:prstGeom>
          <a:noFill/>
          <a:ln w="28575">
            <a:solidFill>
              <a:srgbClr val="E4572E"/>
            </a:solidFill>
            <a:prstDash val="solid"/>
          </a:ln>
        </p:spPr>
      </p:sp>
      <p:sp>
        <p:nvSpPr>
          <p:cNvPr id="41" name="Shape 39"/>
          <p:cNvSpPr/>
          <p:nvPr/>
        </p:nvSpPr>
        <p:spPr>
          <a:xfrm flipV="1">
            <a:off x="7278624" y="4361688"/>
            <a:ext cx="109728" cy="73152"/>
          </a:xfrm>
          <a:prstGeom prst="line">
            <a:avLst/>
          </a:prstGeom>
          <a:noFill/>
          <a:ln w="28575">
            <a:solidFill>
              <a:srgbClr val="E4572E"/>
            </a:solidFill>
            <a:prstDash val="solid"/>
          </a:ln>
        </p:spPr>
      </p:sp>
      <p:sp>
        <p:nvSpPr>
          <p:cNvPr id="42" name="Shape 40"/>
          <p:cNvSpPr/>
          <p:nvPr/>
        </p:nvSpPr>
        <p:spPr>
          <a:xfrm>
            <a:off x="7388352" y="4361688"/>
            <a:ext cx="109728" cy="73152"/>
          </a:xfrm>
          <a:prstGeom prst="line">
            <a:avLst/>
          </a:prstGeom>
          <a:noFill/>
          <a:ln w="28575">
            <a:solidFill>
              <a:srgbClr val="E4572E"/>
            </a:solidFill>
            <a:prstDash val="solid"/>
          </a:ln>
        </p:spPr>
      </p:sp>
      <p:sp>
        <p:nvSpPr>
          <p:cNvPr id="43" name="Shape 41"/>
          <p:cNvSpPr/>
          <p:nvPr/>
        </p:nvSpPr>
        <p:spPr>
          <a:xfrm>
            <a:off x="7498080" y="4434840"/>
            <a:ext cx="153619" cy="0"/>
          </a:xfrm>
          <a:prstGeom prst="line">
            <a:avLst/>
          </a:prstGeom>
          <a:noFill/>
          <a:ln w="28575">
            <a:solidFill>
              <a:srgbClr val="E4572E"/>
            </a:solidFill>
            <a:prstDash val="solid"/>
          </a:ln>
        </p:spPr>
      </p:sp>
      <p:sp>
        <p:nvSpPr>
          <p:cNvPr id="44" name="Shape 42"/>
          <p:cNvSpPr/>
          <p:nvPr/>
        </p:nvSpPr>
        <p:spPr>
          <a:xfrm>
            <a:off x="7651699" y="4434840"/>
            <a:ext cx="65837" cy="54864"/>
          </a:xfrm>
          <a:prstGeom prst="line">
            <a:avLst/>
          </a:prstGeom>
          <a:noFill/>
          <a:ln w="28575">
            <a:solidFill>
              <a:srgbClr val="E4572E"/>
            </a:solidFill>
            <a:prstDash val="solid"/>
          </a:ln>
        </p:spPr>
      </p:sp>
      <p:sp>
        <p:nvSpPr>
          <p:cNvPr id="45" name="Shape 43"/>
          <p:cNvSpPr/>
          <p:nvPr/>
        </p:nvSpPr>
        <p:spPr>
          <a:xfrm flipV="1">
            <a:off x="7717536" y="3931920"/>
            <a:ext cx="109728" cy="557784"/>
          </a:xfrm>
          <a:prstGeom prst="line">
            <a:avLst/>
          </a:prstGeom>
          <a:noFill/>
          <a:ln w="28575">
            <a:solidFill>
              <a:srgbClr val="E4572E"/>
            </a:solidFill>
            <a:prstDash val="solid"/>
          </a:ln>
        </p:spPr>
      </p:sp>
      <p:sp>
        <p:nvSpPr>
          <p:cNvPr id="46" name="Shape 44"/>
          <p:cNvSpPr/>
          <p:nvPr/>
        </p:nvSpPr>
        <p:spPr>
          <a:xfrm>
            <a:off x="7827264" y="3931920"/>
            <a:ext cx="109728" cy="758952"/>
          </a:xfrm>
          <a:prstGeom prst="line">
            <a:avLst/>
          </a:prstGeom>
          <a:noFill/>
          <a:ln w="28575">
            <a:solidFill>
              <a:srgbClr val="E4572E"/>
            </a:solidFill>
            <a:prstDash val="solid"/>
          </a:ln>
        </p:spPr>
      </p:sp>
      <p:sp>
        <p:nvSpPr>
          <p:cNvPr id="47" name="Shape 45"/>
          <p:cNvSpPr/>
          <p:nvPr/>
        </p:nvSpPr>
        <p:spPr>
          <a:xfrm flipV="1">
            <a:off x="7936992" y="4434840"/>
            <a:ext cx="109728" cy="256032"/>
          </a:xfrm>
          <a:prstGeom prst="line">
            <a:avLst/>
          </a:prstGeom>
          <a:noFill/>
          <a:ln w="28575">
            <a:solidFill>
              <a:srgbClr val="E4572E"/>
            </a:solidFill>
            <a:prstDash val="solid"/>
          </a:ln>
        </p:spPr>
      </p:sp>
      <p:sp>
        <p:nvSpPr>
          <p:cNvPr id="48" name="Shape 46"/>
          <p:cNvSpPr/>
          <p:nvPr/>
        </p:nvSpPr>
        <p:spPr>
          <a:xfrm>
            <a:off x="8046720" y="4434840"/>
            <a:ext cx="219456" cy="0"/>
          </a:xfrm>
          <a:prstGeom prst="line">
            <a:avLst/>
          </a:prstGeom>
          <a:noFill/>
          <a:ln w="28575">
            <a:solidFill>
              <a:srgbClr val="E4572E"/>
            </a:solidFill>
            <a:prstDash val="solid"/>
          </a:ln>
        </p:spPr>
      </p:sp>
      <p:sp>
        <p:nvSpPr>
          <p:cNvPr id="49" name="Shape 47"/>
          <p:cNvSpPr/>
          <p:nvPr/>
        </p:nvSpPr>
        <p:spPr>
          <a:xfrm flipV="1">
            <a:off x="8266176" y="4315968"/>
            <a:ext cx="175565" cy="118872"/>
          </a:xfrm>
          <a:prstGeom prst="line">
            <a:avLst/>
          </a:prstGeom>
          <a:noFill/>
          <a:ln w="28575">
            <a:solidFill>
              <a:srgbClr val="E4572E"/>
            </a:solidFill>
            <a:prstDash val="solid"/>
          </a:ln>
        </p:spPr>
      </p:sp>
      <p:sp>
        <p:nvSpPr>
          <p:cNvPr id="50" name="Shape 48"/>
          <p:cNvSpPr/>
          <p:nvPr/>
        </p:nvSpPr>
        <p:spPr>
          <a:xfrm>
            <a:off x="8441741" y="4315968"/>
            <a:ext cx="175565" cy="118872"/>
          </a:xfrm>
          <a:prstGeom prst="line">
            <a:avLst/>
          </a:prstGeom>
          <a:noFill/>
          <a:ln w="28575">
            <a:solidFill>
              <a:srgbClr val="E4572E"/>
            </a:solidFill>
            <a:prstDash val="solid"/>
          </a:ln>
        </p:spPr>
      </p:sp>
      <p:sp>
        <p:nvSpPr>
          <p:cNvPr id="51" name="Shape 49"/>
          <p:cNvSpPr/>
          <p:nvPr/>
        </p:nvSpPr>
        <p:spPr>
          <a:xfrm>
            <a:off x="8617306" y="4434840"/>
            <a:ext cx="526694" cy="0"/>
          </a:xfrm>
          <a:prstGeom prst="line">
            <a:avLst/>
          </a:prstGeom>
          <a:noFill/>
          <a:ln w="28575">
            <a:solidFill>
              <a:srgbClr val="E4572E"/>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2177</Words>
  <Application>Microsoft Office PowerPoint</Application>
  <PresentationFormat>On-screen Show (16:9)</PresentationFormat>
  <Paragraphs>200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MediSphere Cognitive Twin - Final Evaluation</dc:title>
  <dc:subject>PptxGenJS Presentation</dc:subject>
  <dc:creator>Revathi Murala</dc:creator>
  <cp:lastModifiedBy>Revathi Murala</cp:lastModifiedBy>
  <cp:revision>3</cp:revision>
  <dcterms:created xsi:type="dcterms:W3CDTF">2026-10-01T14:47:23Z</dcterms:created>
  <dcterms:modified xsi:type="dcterms:W3CDTF">2026-10-02T04:41:59Z</dcterms:modified>
</cp:coreProperties>
</file>